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037" autoAdjust="0"/>
  </p:normalViewPr>
  <p:slideViewPr>
    <p:cSldViewPr snapToGrid="0">
      <p:cViewPr varScale="1">
        <p:scale>
          <a:sx n="64" d="100"/>
          <a:sy n="64" d="100"/>
        </p:scale>
        <p:origin x="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269C7-5A37-4529-A82A-D51DD19773DE}" type="datetimeFigureOut">
              <a:rPr lang="es-AR" smtClean="0"/>
              <a:t>29/4/2026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C12105-7FA1-45E6-9257-B4B86FA3C46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5308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12105-7FA1-45E6-9257-B4B86FA3C46C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32886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559EA-EDB5-4379-B957-36DE89072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2437A1-FD62-4AA3-8B39-146C30485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520707-214D-42D9-B740-306B12A2A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6F80F-A16B-48DE-8A5C-9E507B2CC75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A72CEE-CF6B-45C6-A8B1-6AA158B4F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2320FF-1CCA-4E50-9BB4-3D5C44284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D5DE-05D7-4AF4-BC01-3C57F3108E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35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4D821-A5D9-424C-ADCE-65BD214A4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759B9A-3D70-489F-B3C7-D7EBC3FEE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912644-E58C-463D-AA2B-F9D1EC447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6F80F-A16B-48DE-8A5C-9E507B2CC75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E06FE0-2413-4E32-8F95-8CC86323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979216-AD9E-43D5-BB7C-719C9F01B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D5DE-05D7-4AF4-BC01-3C57F3108E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145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FDC00A-A82F-4CB0-81EE-2C193E2EC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970A5F-0AEB-424F-AA74-EC16FD585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92A0A6-155C-4073-9992-215AD0E3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6F80F-A16B-48DE-8A5C-9E507B2CC75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57E10A-0989-4C67-8DEB-25CDDA25D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A2D8F0-766C-47BB-B554-184C1608D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D5DE-05D7-4AF4-BC01-3C57F3108E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EDE6D-FF3B-4881-83F6-E8EB206C0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87AAD1-C28F-4962-AC1E-9EC5B07A6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181F10-E808-4D49-8FAE-A71C13501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8D1738-29E3-45E0-8F08-2B82D5D7F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6F80F-A16B-48DE-8A5C-9E507B2CC75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1AE3B9-B820-4E87-A537-157D5CB14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56844C-6363-491A-BA86-512B8343E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D5DE-05D7-4AF4-BC01-3C57F3108E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0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A3D51-197F-4F3F-8FA9-163A3C07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D07582-576B-46CE-91B1-0D24AA28D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B3EFD9-622E-4E27-BB1C-D749049A6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5F3EB5-297B-4C7D-95C9-0EE652986A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265787F-1C1A-4142-ABB7-63D756197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987E36-1109-4439-8D50-CD7421D9E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6F80F-A16B-48DE-8A5C-9E507B2CC75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805A9AB-222C-49AF-9F57-F23C1FB91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0598ABE-498C-4F4D-9B0A-73D80541D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D5DE-05D7-4AF4-BC01-3C57F3108E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3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5AFE8-C582-42B2-BB05-7FA24A5D2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6292FD2-FEA0-4BA0-9B7D-40C6920AC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6F80F-A16B-48DE-8A5C-9E507B2CC75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D43BF25-BFD2-44D8-8356-29D5DA9FF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EFB5355-C17F-440B-A376-71B0AF3D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D5DE-05D7-4AF4-BC01-3C57F3108E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2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6F432EC-092E-4BFC-96C0-ADAE97D6B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6F80F-A16B-48DE-8A5C-9E507B2CC75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609718A-1767-49A8-BAFF-CBACD7E39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332AE4-C66F-4856-B4B1-CCDBF1F98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D5DE-05D7-4AF4-BC01-3C57F3108E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71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AD9F6-D2AF-4563-9107-F85B1FB36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58B55B-BB89-4144-A7CD-C5D8D56D3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55D31AB-451F-42A8-B6C4-894B8BAFD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E39E63-66DE-4DAF-841B-4D204F7A5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6F80F-A16B-48DE-8A5C-9E507B2CC75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54C3C8-C0F9-4312-84F8-7C0EB7B12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3EC1BA-6691-4B8F-90C4-5012F1369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D5DE-05D7-4AF4-BC01-3C57F3108E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33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DA54B4-297F-48FE-B1BE-3D55BA4DB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245B33C-D63D-47E4-85B7-F149168790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254DF00-52E3-4A81-8903-8C4FD85D3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D213EA-AE32-44D5-A120-683A350F3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6F80F-A16B-48DE-8A5C-9E507B2CC75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E3FE34-3B4B-4C29-9FB6-674953C18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17BF80-912A-4F5A-821F-9E2D9653C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D5DE-05D7-4AF4-BC01-3C57F3108E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429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13808-8C77-43D9-9054-454C2FE03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79CC1F-A528-480A-9B30-166CF0A6E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5961CE-53EE-486B-9923-91C5317F3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6F80F-A16B-48DE-8A5C-9E507B2CC75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7FEA30-36CF-4006-A188-CB15E415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83A7CD-ED8F-43A6-A323-61DC959A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D5DE-05D7-4AF4-BC01-3C57F3108E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53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88F1C67-B9AF-4DE4-8EFB-5BC117AAFA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64EC98A-A0E6-4F43-96D4-117821DA9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5E6F9F-5996-44B2-A6C4-721443503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6F80F-A16B-48DE-8A5C-9E507B2CC75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0906E0-EFBD-40FB-A2D3-EFD8EEFD6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BF8CFF-2D41-41B4-A32A-6FB1752B6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ED5DE-05D7-4AF4-BC01-3C57F3108E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46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0D95BA-96CD-45E9-8861-D0813E741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09DDD7-9D88-45E8-A127-AC42994A3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A70A11-FB09-4436-BBC7-555593F372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6F80F-A16B-48DE-8A5C-9E507B2CC75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96BEC8-9F33-4A02-9CF5-8C781FE993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2071D3-67FC-4CDD-8892-AE9C56B31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ED5DE-05D7-4AF4-BC01-3C57F3108E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37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edev.stackexchange.com/questions/66312/quads-vs-triangles" TargetMode="External"/><Relationship Id="rId2" Type="http://schemas.openxmlformats.org/officeDocument/2006/relationships/hyperlink" Target="https://www.quora.com/Which-one-is-better-for-3D-modeling-Quads-or-Tri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reddit.com/r/gamedev/comments/bpfug4/stupid_question_why_do_devs_prefer_tris_instead/" TargetMode="External"/><Relationship Id="rId4" Type="http://schemas.openxmlformats.org/officeDocument/2006/relationships/hyperlink" Target="https://stackoverflow.com/questions/14555446/opengl-is-it-more-efficient-to-use-gl-quads-or-gl-triangl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1041181-FE60-4888-B689-49644BB90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36811" y="2708898"/>
            <a:ext cx="1730477" cy="1268363"/>
          </a:xfrm>
        </p:spPr>
        <p:txBody>
          <a:bodyPr>
            <a:noAutofit/>
          </a:bodyPr>
          <a:lstStyle/>
          <a:p>
            <a:r>
              <a:rPr lang="es-AR" sz="8800" dirty="0">
                <a:latin typeface="Agency FB" panose="020B0503020202020204" pitchFamily="34" charset="0"/>
              </a:rPr>
              <a:t>VS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C8D49779-13CA-41EF-8BA9-63FB477D68B7}"/>
              </a:ext>
            </a:extLst>
          </p:cNvPr>
          <p:cNvCxnSpPr>
            <a:cxnSpLocks/>
          </p:cNvCxnSpPr>
          <p:nvPr/>
        </p:nvCxnSpPr>
        <p:spPr>
          <a:xfrm>
            <a:off x="1603068" y="1194002"/>
            <a:ext cx="619433" cy="1219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70864C3-21A2-447A-99B1-38F5FE970722}"/>
              </a:ext>
            </a:extLst>
          </p:cNvPr>
          <p:cNvCxnSpPr>
            <a:cxnSpLocks/>
          </p:cNvCxnSpPr>
          <p:nvPr/>
        </p:nvCxnSpPr>
        <p:spPr>
          <a:xfrm>
            <a:off x="1603068" y="1194002"/>
            <a:ext cx="825910" cy="2458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DD9CD26-423B-4957-801D-7216EBFF307E}"/>
              </a:ext>
            </a:extLst>
          </p:cNvPr>
          <p:cNvCxnSpPr>
            <a:cxnSpLocks/>
          </p:cNvCxnSpPr>
          <p:nvPr/>
        </p:nvCxnSpPr>
        <p:spPr>
          <a:xfrm flipH="1">
            <a:off x="2222500" y="1439809"/>
            <a:ext cx="206480" cy="9851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6B07E29-6DDC-46FF-81EA-2CF73F25D803}"/>
              </a:ext>
            </a:extLst>
          </p:cNvPr>
          <p:cNvCxnSpPr>
            <a:cxnSpLocks/>
          </p:cNvCxnSpPr>
          <p:nvPr/>
        </p:nvCxnSpPr>
        <p:spPr>
          <a:xfrm>
            <a:off x="2428978" y="1439809"/>
            <a:ext cx="203921" cy="11775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F93E373-4A68-4D79-A482-7D8442CF22B9}"/>
              </a:ext>
            </a:extLst>
          </p:cNvPr>
          <p:cNvCxnSpPr>
            <a:cxnSpLocks/>
          </p:cNvCxnSpPr>
          <p:nvPr/>
        </p:nvCxnSpPr>
        <p:spPr>
          <a:xfrm>
            <a:off x="2217380" y="2415916"/>
            <a:ext cx="418078" cy="1975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C29343D7-2C7D-4A2F-8D66-10294EEBEC7A}"/>
              </a:ext>
            </a:extLst>
          </p:cNvPr>
          <p:cNvCxnSpPr>
            <a:cxnSpLocks/>
          </p:cNvCxnSpPr>
          <p:nvPr/>
        </p:nvCxnSpPr>
        <p:spPr>
          <a:xfrm flipV="1">
            <a:off x="2122949" y="2610770"/>
            <a:ext cx="522744" cy="6869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687BAA00-D32A-413C-85B5-7ADE9F10A064}"/>
              </a:ext>
            </a:extLst>
          </p:cNvPr>
          <p:cNvCxnSpPr>
            <a:cxnSpLocks/>
          </p:cNvCxnSpPr>
          <p:nvPr/>
        </p:nvCxnSpPr>
        <p:spPr>
          <a:xfrm flipV="1">
            <a:off x="2117832" y="2413202"/>
            <a:ext cx="104667" cy="8844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D3F9635F-7718-4CBB-9BC1-F3BBE545E335}"/>
              </a:ext>
            </a:extLst>
          </p:cNvPr>
          <p:cNvCxnSpPr>
            <a:cxnSpLocks/>
          </p:cNvCxnSpPr>
          <p:nvPr/>
        </p:nvCxnSpPr>
        <p:spPr>
          <a:xfrm flipH="1" flipV="1">
            <a:off x="2635458" y="2601706"/>
            <a:ext cx="216714" cy="11904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9E3FBBEE-C99E-4491-BA21-CE2CCED7CD4E}"/>
              </a:ext>
            </a:extLst>
          </p:cNvPr>
          <p:cNvCxnSpPr>
            <a:cxnSpLocks/>
          </p:cNvCxnSpPr>
          <p:nvPr/>
        </p:nvCxnSpPr>
        <p:spPr>
          <a:xfrm flipH="1" flipV="1">
            <a:off x="2122950" y="3297696"/>
            <a:ext cx="729222" cy="4944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F4FAFC78-A10A-44C9-82F6-93789A966E1F}"/>
              </a:ext>
            </a:extLst>
          </p:cNvPr>
          <p:cNvCxnSpPr>
            <a:cxnSpLocks/>
          </p:cNvCxnSpPr>
          <p:nvPr/>
        </p:nvCxnSpPr>
        <p:spPr>
          <a:xfrm flipV="1">
            <a:off x="2643134" y="1194002"/>
            <a:ext cx="953015" cy="14167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5F450D4F-20E8-4169-ACD0-0B53F4042BC1}"/>
              </a:ext>
            </a:extLst>
          </p:cNvPr>
          <p:cNvCxnSpPr>
            <a:cxnSpLocks/>
          </p:cNvCxnSpPr>
          <p:nvPr/>
        </p:nvCxnSpPr>
        <p:spPr>
          <a:xfrm flipV="1">
            <a:off x="2434097" y="1194003"/>
            <a:ext cx="1162052" cy="2417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AB7E93AE-976C-4D0C-AA0E-67A006ABE0B3}"/>
              </a:ext>
            </a:extLst>
          </p:cNvPr>
          <p:cNvCxnSpPr>
            <a:cxnSpLocks/>
          </p:cNvCxnSpPr>
          <p:nvPr/>
        </p:nvCxnSpPr>
        <p:spPr>
          <a:xfrm flipV="1">
            <a:off x="3364680" y="1217470"/>
            <a:ext cx="207036" cy="20736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EBC1C57A-FA02-4C17-9A1C-D1C53741B6B5}"/>
              </a:ext>
            </a:extLst>
          </p:cNvPr>
          <p:cNvCxnSpPr>
            <a:cxnSpLocks/>
          </p:cNvCxnSpPr>
          <p:nvPr/>
        </p:nvCxnSpPr>
        <p:spPr>
          <a:xfrm flipH="1" flipV="1">
            <a:off x="2632899" y="2617312"/>
            <a:ext cx="721547" cy="6738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A868FEAB-0897-4F8D-94CC-495D266D4048}"/>
              </a:ext>
            </a:extLst>
          </p:cNvPr>
          <p:cNvCxnSpPr>
            <a:cxnSpLocks/>
          </p:cNvCxnSpPr>
          <p:nvPr/>
        </p:nvCxnSpPr>
        <p:spPr>
          <a:xfrm flipH="1">
            <a:off x="2849615" y="3291154"/>
            <a:ext cx="515065" cy="4815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F4E9E743-0EC5-40CC-93AB-684BD072752B}"/>
              </a:ext>
            </a:extLst>
          </p:cNvPr>
          <p:cNvCxnSpPr>
            <a:cxnSpLocks/>
          </p:cNvCxnSpPr>
          <p:nvPr/>
        </p:nvCxnSpPr>
        <p:spPr>
          <a:xfrm flipV="1">
            <a:off x="1946057" y="3304238"/>
            <a:ext cx="171775" cy="19495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B2AE8921-906D-4745-A3A9-14DF891DCC40}"/>
              </a:ext>
            </a:extLst>
          </p:cNvPr>
          <p:cNvCxnSpPr>
            <a:cxnSpLocks/>
          </p:cNvCxnSpPr>
          <p:nvPr/>
        </p:nvCxnSpPr>
        <p:spPr>
          <a:xfrm flipV="1">
            <a:off x="1940939" y="3772667"/>
            <a:ext cx="908676" cy="1481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4C18DA3F-F7C7-4AED-B1F7-721480A80071}"/>
              </a:ext>
            </a:extLst>
          </p:cNvPr>
          <p:cNvCxnSpPr>
            <a:cxnSpLocks/>
          </p:cNvCxnSpPr>
          <p:nvPr/>
        </p:nvCxnSpPr>
        <p:spPr>
          <a:xfrm flipV="1">
            <a:off x="8647724" y="1793688"/>
            <a:ext cx="183096" cy="6241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60F7387D-125A-4AFE-80A1-B3B4410927F4}"/>
              </a:ext>
            </a:extLst>
          </p:cNvPr>
          <p:cNvCxnSpPr>
            <a:cxnSpLocks/>
          </p:cNvCxnSpPr>
          <p:nvPr/>
        </p:nvCxnSpPr>
        <p:spPr>
          <a:xfrm flipH="1">
            <a:off x="8830820" y="1793688"/>
            <a:ext cx="60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Conector recto 120">
            <a:extLst>
              <a:ext uri="{FF2B5EF4-FFF2-40B4-BE49-F238E27FC236}">
                <a16:creationId xmlns:a16="http://schemas.microsoft.com/office/drawing/2014/main" id="{593E9717-AC5A-4E93-ADC4-FE23DE9E495A}"/>
              </a:ext>
            </a:extLst>
          </p:cNvPr>
          <p:cNvCxnSpPr>
            <a:cxnSpLocks/>
          </p:cNvCxnSpPr>
          <p:nvPr/>
        </p:nvCxnSpPr>
        <p:spPr>
          <a:xfrm flipV="1">
            <a:off x="9257324" y="1789087"/>
            <a:ext cx="183096" cy="6241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2E4660EE-3DD8-40FE-963A-663C5C3C7FC8}"/>
              </a:ext>
            </a:extLst>
          </p:cNvPr>
          <p:cNvCxnSpPr>
            <a:cxnSpLocks/>
          </p:cNvCxnSpPr>
          <p:nvPr/>
        </p:nvCxnSpPr>
        <p:spPr>
          <a:xfrm flipH="1">
            <a:off x="8647724" y="2405945"/>
            <a:ext cx="60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Conector recto 122">
            <a:extLst>
              <a:ext uri="{FF2B5EF4-FFF2-40B4-BE49-F238E27FC236}">
                <a16:creationId xmlns:a16="http://schemas.microsoft.com/office/drawing/2014/main" id="{D369037D-35E0-461E-9AA3-A2CFEBA2E771}"/>
              </a:ext>
            </a:extLst>
          </p:cNvPr>
          <p:cNvCxnSpPr>
            <a:cxnSpLocks/>
          </p:cNvCxnSpPr>
          <p:nvPr/>
        </p:nvCxnSpPr>
        <p:spPr>
          <a:xfrm flipV="1">
            <a:off x="9440420" y="1192262"/>
            <a:ext cx="28971" cy="6195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Conector recto 123">
            <a:extLst>
              <a:ext uri="{FF2B5EF4-FFF2-40B4-BE49-F238E27FC236}">
                <a16:creationId xmlns:a16="http://schemas.microsoft.com/office/drawing/2014/main" id="{371D8E74-42DB-46F2-9135-110B069660AF}"/>
              </a:ext>
            </a:extLst>
          </p:cNvPr>
          <p:cNvCxnSpPr>
            <a:cxnSpLocks/>
          </p:cNvCxnSpPr>
          <p:nvPr/>
        </p:nvCxnSpPr>
        <p:spPr>
          <a:xfrm flipH="1">
            <a:off x="9469391" y="1192262"/>
            <a:ext cx="60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88BBBC13-1AB7-4F7F-9BD8-8BFDE885DD6C}"/>
              </a:ext>
            </a:extLst>
          </p:cNvPr>
          <p:cNvCxnSpPr>
            <a:cxnSpLocks/>
          </p:cNvCxnSpPr>
          <p:nvPr/>
        </p:nvCxnSpPr>
        <p:spPr>
          <a:xfrm flipV="1">
            <a:off x="10050020" y="1192262"/>
            <a:ext cx="28971" cy="6149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Conector recto 125">
            <a:extLst>
              <a:ext uri="{FF2B5EF4-FFF2-40B4-BE49-F238E27FC236}">
                <a16:creationId xmlns:a16="http://schemas.microsoft.com/office/drawing/2014/main" id="{17D4120D-558E-43EA-9BAB-114ACAEDECB5}"/>
              </a:ext>
            </a:extLst>
          </p:cNvPr>
          <p:cNvCxnSpPr>
            <a:cxnSpLocks/>
          </p:cNvCxnSpPr>
          <p:nvPr/>
        </p:nvCxnSpPr>
        <p:spPr>
          <a:xfrm flipH="1">
            <a:off x="9440420" y="1799917"/>
            <a:ext cx="60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Conector recto 128">
            <a:extLst>
              <a:ext uri="{FF2B5EF4-FFF2-40B4-BE49-F238E27FC236}">
                <a16:creationId xmlns:a16="http://schemas.microsoft.com/office/drawing/2014/main" id="{FABBAE89-50BD-447B-AEF1-B122B5D6AFDC}"/>
              </a:ext>
            </a:extLst>
          </p:cNvPr>
          <p:cNvCxnSpPr>
            <a:cxnSpLocks/>
          </p:cNvCxnSpPr>
          <p:nvPr/>
        </p:nvCxnSpPr>
        <p:spPr>
          <a:xfrm flipH="1">
            <a:off x="9257324" y="2405945"/>
            <a:ext cx="60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Conector recto 131">
            <a:extLst>
              <a:ext uri="{FF2B5EF4-FFF2-40B4-BE49-F238E27FC236}">
                <a16:creationId xmlns:a16="http://schemas.microsoft.com/office/drawing/2014/main" id="{4798BFBD-4579-4B60-8D27-91DD09DA6F1C}"/>
              </a:ext>
            </a:extLst>
          </p:cNvPr>
          <p:cNvCxnSpPr>
            <a:cxnSpLocks/>
          </p:cNvCxnSpPr>
          <p:nvPr/>
        </p:nvCxnSpPr>
        <p:spPr>
          <a:xfrm flipV="1">
            <a:off x="9866924" y="1799045"/>
            <a:ext cx="183096" cy="6141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Conector recto 141">
            <a:extLst>
              <a:ext uri="{FF2B5EF4-FFF2-40B4-BE49-F238E27FC236}">
                <a16:creationId xmlns:a16="http://schemas.microsoft.com/office/drawing/2014/main" id="{8EAC4CAF-911C-4CCD-AF5A-3B79F0EA7095}"/>
              </a:ext>
            </a:extLst>
          </p:cNvPr>
          <p:cNvCxnSpPr>
            <a:cxnSpLocks/>
          </p:cNvCxnSpPr>
          <p:nvPr/>
        </p:nvCxnSpPr>
        <p:spPr>
          <a:xfrm flipH="1" flipV="1">
            <a:off x="9863978" y="2391727"/>
            <a:ext cx="124028" cy="619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Conector recto 142">
            <a:extLst>
              <a:ext uri="{FF2B5EF4-FFF2-40B4-BE49-F238E27FC236}">
                <a16:creationId xmlns:a16="http://schemas.microsoft.com/office/drawing/2014/main" id="{95BE8D3E-F400-49C2-B9EE-E6B7B3C8A21D}"/>
              </a:ext>
            </a:extLst>
          </p:cNvPr>
          <p:cNvCxnSpPr>
            <a:cxnSpLocks/>
          </p:cNvCxnSpPr>
          <p:nvPr/>
        </p:nvCxnSpPr>
        <p:spPr>
          <a:xfrm flipH="1" flipV="1">
            <a:off x="9264538" y="2399141"/>
            <a:ext cx="124028" cy="619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Conector recto 143">
            <a:extLst>
              <a:ext uri="{FF2B5EF4-FFF2-40B4-BE49-F238E27FC236}">
                <a16:creationId xmlns:a16="http://schemas.microsoft.com/office/drawing/2014/main" id="{A1E94BBA-EE65-4137-96F9-077B7961B7AF}"/>
              </a:ext>
            </a:extLst>
          </p:cNvPr>
          <p:cNvCxnSpPr>
            <a:cxnSpLocks/>
          </p:cNvCxnSpPr>
          <p:nvPr/>
        </p:nvCxnSpPr>
        <p:spPr>
          <a:xfrm flipH="1">
            <a:off x="9388566" y="3018656"/>
            <a:ext cx="60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Conector recto 146">
            <a:extLst>
              <a:ext uri="{FF2B5EF4-FFF2-40B4-BE49-F238E27FC236}">
                <a16:creationId xmlns:a16="http://schemas.microsoft.com/office/drawing/2014/main" id="{BCD5E08E-44CE-4E44-9C49-96D0F23F104C}"/>
              </a:ext>
            </a:extLst>
          </p:cNvPr>
          <p:cNvCxnSpPr>
            <a:cxnSpLocks/>
          </p:cNvCxnSpPr>
          <p:nvPr/>
        </p:nvCxnSpPr>
        <p:spPr>
          <a:xfrm flipH="1" flipV="1">
            <a:off x="8644996" y="2402848"/>
            <a:ext cx="124028" cy="619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Conector recto 147">
            <a:extLst>
              <a:ext uri="{FF2B5EF4-FFF2-40B4-BE49-F238E27FC236}">
                <a16:creationId xmlns:a16="http://schemas.microsoft.com/office/drawing/2014/main" id="{FDE882A2-51FD-44A0-BE6E-CB7D96A6C576}"/>
              </a:ext>
            </a:extLst>
          </p:cNvPr>
          <p:cNvCxnSpPr>
            <a:cxnSpLocks/>
          </p:cNvCxnSpPr>
          <p:nvPr/>
        </p:nvCxnSpPr>
        <p:spPr>
          <a:xfrm flipH="1">
            <a:off x="8769024" y="3022363"/>
            <a:ext cx="60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Conector recto 152">
            <a:extLst>
              <a:ext uri="{FF2B5EF4-FFF2-40B4-BE49-F238E27FC236}">
                <a16:creationId xmlns:a16="http://schemas.microsoft.com/office/drawing/2014/main" id="{8C062F36-BF0B-46E6-AB26-94DD5C75B8E5}"/>
              </a:ext>
            </a:extLst>
          </p:cNvPr>
          <p:cNvCxnSpPr>
            <a:cxnSpLocks/>
          </p:cNvCxnSpPr>
          <p:nvPr/>
        </p:nvCxnSpPr>
        <p:spPr>
          <a:xfrm flipV="1">
            <a:off x="9350921" y="3029619"/>
            <a:ext cx="28971" cy="6195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67BD0B5C-62AC-4175-98BE-22E6F7E1F569}"/>
              </a:ext>
            </a:extLst>
          </p:cNvPr>
          <p:cNvCxnSpPr>
            <a:cxnSpLocks/>
          </p:cNvCxnSpPr>
          <p:nvPr/>
        </p:nvCxnSpPr>
        <p:spPr>
          <a:xfrm flipV="1">
            <a:off x="9960521" y="3029619"/>
            <a:ext cx="28971" cy="6149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Conector recto 155">
            <a:extLst>
              <a:ext uri="{FF2B5EF4-FFF2-40B4-BE49-F238E27FC236}">
                <a16:creationId xmlns:a16="http://schemas.microsoft.com/office/drawing/2014/main" id="{85B5630A-23D4-42FC-9F00-17569F520413}"/>
              </a:ext>
            </a:extLst>
          </p:cNvPr>
          <p:cNvCxnSpPr>
            <a:cxnSpLocks/>
          </p:cNvCxnSpPr>
          <p:nvPr/>
        </p:nvCxnSpPr>
        <p:spPr>
          <a:xfrm flipH="1">
            <a:off x="9350921" y="3637274"/>
            <a:ext cx="60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Conector recto 156">
            <a:extLst>
              <a:ext uri="{FF2B5EF4-FFF2-40B4-BE49-F238E27FC236}">
                <a16:creationId xmlns:a16="http://schemas.microsoft.com/office/drawing/2014/main" id="{3AE569DD-A342-43FF-826D-969150F7067B}"/>
              </a:ext>
            </a:extLst>
          </p:cNvPr>
          <p:cNvCxnSpPr>
            <a:cxnSpLocks/>
          </p:cNvCxnSpPr>
          <p:nvPr/>
        </p:nvCxnSpPr>
        <p:spPr>
          <a:xfrm flipH="1">
            <a:off x="9988006" y="3017723"/>
            <a:ext cx="60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Conector recto 160">
            <a:extLst>
              <a:ext uri="{FF2B5EF4-FFF2-40B4-BE49-F238E27FC236}">
                <a16:creationId xmlns:a16="http://schemas.microsoft.com/office/drawing/2014/main" id="{B5278D3B-6522-4F66-96C5-CEAEFF95456F}"/>
              </a:ext>
            </a:extLst>
          </p:cNvPr>
          <p:cNvCxnSpPr>
            <a:cxnSpLocks/>
          </p:cNvCxnSpPr>
          <p:nvPr/>
        </p:nvCxnSpPr>
        <p:spPr>
          <a:xfrm flipV="1">
            <a:off x="10559961" y="3028686"/>
            <a:ext cx="28971" cy="6149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Conector recto 161">
            <a:extLst>
              <a:ext uri="{FF2B5EF4-FFF2-40B4-BE49-F238E27FC236}">
                <a16:creationId xmlns:a16="http://schemas.microsoft.com/office/drawing/2014/main" id="{3FE07900-7304-4E1B-A045-3454AEA3457F}"/>
              </a:ext>
            </a:extLst>
          </p:cNvPr>
          <p:cNvCxnSpPr>
            <a:cxnSpLocks/>
          </p:cNvCxnSpPr>
          <p:nvPr/>
        </p:nvCxnSpPr>
        <p:spPr>
          <a:xfrm flipH="1">
            <a:off x="9950361" y="3636341"/>
            <a:ext cx="60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Conector recto 162">
            <a:extLst>
              <a:ext uri="{FF2B5EF4-FFF2-40B4-BE49-F238E27FC236}">
                <a16:creationId xmlns:a16="http://schemas.microsoft.com/office/drawing/2014/main" id="{B4019685-4D72-4A0C-A9A2-65CE216BB6BE}"/>
              </a:ext>
            </a:extLst>
          </p:cNvPr>
          <p:cNvCxnSpPr>
            <a:cxnSpLocks/>
          </p:cNvCxnSpPr>
          <p:nvPr/>
        </p:nvCxnSpPr>
        <p:spPr>
          <a:xfrm flipH="1" flipV="1">
            <a:off x="941627" y="2311091"/>
            <a:ext cx="1181321" cy="9800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Conector recto 167">
            <a:extLst>
              <a:ext uri="{FF2B5EF4-FFF2-40B4-BE49-F238E27FC236}">
                <a16:creationId xmlns:a16="http://schemas.microsoft.com/office/drawing/2014/main" id="{E174AB1C-2521-47E7-9E5B-47137DCD0CA3}"/>
              </a:ext>
            </a:extLst>
          </p:cNvPr>
          <p:cNvCxnSpPr>
            <a:cxnSpLocks/>
          </p:cNvCxnSpPr>
          <p:nvPr/>
        </p:nvCxnSpPr>
        <p:spPr>
          <a:xfrm flipH="1" flipV="1">
            <a:off x="948119" y="2324303"/>
            <a:ext cx="1274380" cy="979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ector recto 170">
            <a:extLst>
              <a:ext uri="{FF2B5EF4-FFF2-40B4-BE49-F238E27FC236}">
                <a16:creationId xmlns:a16="http://schemas.microsoft.com/office/drawing/2014/main" id="{F16526CE-3DEE-41BF-93AD-0E1B742BFE6D}"/>
              </a:ext>
            </a:extLst>
          </p:cNvPr>
          <p:cNvCxnSpPr>
            <a:cxnSpLocks/>
          </p:cNvCxnSpPr>
          <p:nvPr/>
        </p:nvCxnSpPr>
        <p:spPr>
          <a:xfrm flipV="1">
            <a:off x="948119" y="1192263"/>
            <a:ext cx="659973" cy="1132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Conector recto 173">
            <a:extLst>
              <a:ext uri="{FF2B5EF4-FFF2-40B4-BE49-F238E27FC236}">
                <a16:creationId xmlns:a16="http://schemas.microsoft.com/office/drawing/2014/main" id="{E580694B-33C9-4B98-BE58-018E0A468A63}"/>
              </a:ext>
            </a:extLst>
          </p:cNvPr>
          <p:cNvCxnSpPr>
            <a:cxnSpLocks/>
          </p:cNvCxnSpPr>
          <p:nvPr/>
        </p:nvCxnSpPr>
        <p:spPr>
          <a:xfrm flipH="1" flipV="1">
            <a:off x="959583" y="2317754"/>
            <a:ext cx="990023" cy="2936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Conector recto 176">
            <a:extLst>
              <a:ext uri="{FF2B5EF4-FFF2-40B4-BE49-F238E27FC236}">
                <a16:creationId xmlns:a16="http://schemas.microsoft.com/office/drawing/2014/main" id="{356F69BF-7798-4FE4-BAF8-550DD67E6CCB}"/>
              </a:ext>
            </a:extLst>
          </p:cNvPr>
          <p:cNvCxnSpPr>
            <a:cxnSpLocks/>
          </p:cNvCxnSpPr>
          <p:nvPr/>
        </p:nvCxnSpPr>
        <p:spPr>
          <a:xfrm flipV="1">
            <a:off x="7948625" y="3621849"/>
            <a:ext cx="183096" cy="6241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8" name="Conector recto 177">
            <a:extLst>
              <a:ext uri="{FF2B5EF4-FFF2-40B4-BE49-F238E27FC236}">
                <a16:creationId xmlns:a16="http://schemas.microsoft.com/office/drawing/2014/main" id="{27B63A1F-4A5A-4E82-91F3-5E6BFD4DCAF1}"/>
              </a:ext>
            </a:extLst>
          </p:cNvPr>
          <p:cNvCxnSpPr>
            <a:cxnSpLocks/>
          </p:cNvCxnSpPr>
          <p:nvPr/>
        </p:nvCxnSpPr>
        <p:spPr>
          <a:xfrm flipH="1">
            <a:off x="8131721" y="3621849"/>
            <a:ext cx="60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9" name="Conector recto 178">
            <a:extLst>
              <a:ext uri="{FF2B5EF4-FFF2-40B4-BE49-F238E27FC236}">
                <a16:creationId xmlns:a16="http://schemas.microsoft.com/office/drawing/2014/main" id="{82510F92-364F-4D5B-A381-D107ED5ECF08}"/>
              </a:ext>
            </a:extLst>
          </p:cNvPr>
          <p:cNvCxnSpPr>
            <a:cxnSpLocks/>
          </p:cNvCxnSpPr>
          <p:nvPr/>
        </p:nvCxnSpPr>
        <p:spPr>
          <a:xfrm flipV="1">
            <a:off x="8558225" y="3617248"/>
            <a:ext cx="183096" cy="6241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Conector recto 179">
            <a:extLst>
              <a:ext uri="{FF2B5EF4-FFF2-40B4-BE49-F238E27FC236}">
                <a16:creationId xmlns:a16="http://schemas.microsoft.com/office/drawing/2014/main" id="{0916B0E6-1AA4-41ED-A765-4E0064B30DF1}"/>
              </a:ext>
            </a:extLst>
          </p:cNvPr>
          <p:cNvCxnSpPr>
            <a:cxnSpLocks/>
          </p:cNvCxnSpPr>
          <p:nvPr/>
        </p:nvCxnSpPr>
        <p:spPr>
          <a:xfrm flipH="1">
            <a:off x="7948625" y="4234106"/>
            <a:ext cx="60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1" name="Conector recto 180">
            <a:extLst>
              <a:ext uri="{FF2B5EF4-FFF2-40B4-BE49-F238E27FC236}">
                <a16:creationId xmlns:a16="http://schemas.microsoft.com/office/drawing/2014/main" id="{D602BB92-9660-4A93-8AE5-92C2B50E2739}"/>
              </a:ext>
            </a:extLst>
          </p:cNvPr>
          <p:cNvCxnSpPr>
            <a:cxnSpLocks/>
          </p:cNvCxnSpPr>
          <p:nvPr/>
        </p:nvCxnSpPr>
        <p:spPr>
          <a:xfrm flipV="1">
            <a:off x="8741321" y="3020423"/>
            <a:ext cx="28971" cy="6195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Conector recto 183">
            <a:extLst>
              <a:ext uri="{FF2B5EF4-FFF2-40B4-BE49-F238E27FC236}">
                <a16:creationId xmlns:a16="http://schemas.microsoft.com/office/drawing/2014/main" id="{13B0D31C-3A59-4972-BE7D-3260C023DAB5}"/>
              </a:ext>
            </a:extLst>
          </p:cNvPr>
          <p:cNvCxnSpPr>
            <a:cxnSpLocks/>
          </p:cNvCxnSpPr>
          <p:nvPr/>
        </p:nvCxnSpPr>
        <p:spPr>
          <a:xfrm flipH="1">
            <a:off x="8741321" y="3628078"/>
            <a:ext cx="60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Conector recto 184">
            <a:extLst>
              <a:ext uri="{FF2B5EF4-FFF2-40B4-BE49-F238E27FC236}">
                <a16:creationId xmlns:a16="http://schemas.microsoft.com/office/drawing/2014/main" id="{C4BC33E8-C4A2-4AAB-865C-A0986410719C}"/>
              </a:ext>
            </a:extLst>
          </p:cNvPr>
          <p:cNvCxnSpPr>
            <a:cxnSpLocks/>
          </p:cNvCxnSpPr>
          <p:nvPr/>
        </p:nvCxnSpPr>
        <p:spPr>
          <a:xfrm flipH="1">
            <a:off x="8558225" y="4234106"/>
            <a:ext cx="60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" name="Conector recto 185">
            <a:extLst>
              <a:ext uri="{FF2B5EF4-FFF2-40B4-BE49-F238E27FC236}">
                <a16:creationId xmlns:a16="http://schemas.microsoft.com/office/drawing/2014/main" id="{8A1D894B-8DE8-4D5D-ABE8-D2DD2670123E}"/>
              </a:ext>
            </a:extLst>
          </p:cNvPr>
          <p:cNvCxnSpPr>
            <a:cxnSpLocks/>
          </p:cNvCxnSpPr>
          <p:nvPr/>
        </p:nvCxnSpPr>
        <p:spPr>
          <a:xfrm flipV="1">
            <a:off x="9167825" y="3627206"/>
            <a:ext cx="183096" cy="6141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" name="Conector recto 186">
            <a:extLst>
              <a:ext uri="{FF2B5EF4-FFF2-40B4-BE49-F238E27FC236}">
                <a16:creationId xmlns:a16="http://schemas.microsoft.com/office/drawing/2014/main" id="{BB5E3A4C-0E5F-4B8B-8947-9502FAB33A5D}"/>
              </a:ext>
            </a:extLst>
          </p:cNvPr>
          <p:cNvCxnSpPr>
            <a:cxnSpLocks/>
          </p:cNvCxnSpPr>
          <p:nvPr/>
        </p:nvCxnSpPr>
        <p:spPr>
          <a:xfrm flipH="1" flipV="1">
            <a:off x="9164879" y="4219888"/>
            <a:ext cx="124028" cy="619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Conector recto 187">
            <a:extLst>
              <a:ext uri="{FF2B5EF4-FFF2-40B4-BE49-F238E27FC236}">
                <a16:creationId xmlns:a16="http://schemas.microsoft.com/office/drawing/2014/main" id="{332C277C-8F79-453F-A602-A6DA529251F1}"/>
              </a:ext>
            </a:extLst>
          </p:cNvPr>
          <p:cNvCxnSpPr>
            <a:cxnSpLocks/>
          </p:cNvCxnSpPr>
          <p:nvPr/>
        </p:nvCxnSpPr>
        <p:spPr>
          <a:xfrm flipH="1" flipV="1">
            <a:off x="8565439" y="4227302"/>
            <a:ext cx="124028" cy="619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" name="Conector recto 188">
            <a:extLst>
              <a:ext uri="{FF2B5EF4-FFF2-40B4-BE49-F238E27FC236}">
                <a16:creationId xmlns:a16="http://schemas.microsoft.com/office/drawing/2014/main" id="{40F9F087-C78E-4FF2-89B3-7EE2C75514FB}"/>
              </a:ext>
            </a:extLst>
          </p:cNvPr>
          <p:cNvCxnSpPr>
            <a:cxnSpLocks/>
          </p:cNvCxnSpPr>
          <p:nvPr/>
        </p:nvCxnSpPr>
        <p:spPr>
          <a:xfrm flipH="1">
            <a:off x="8689467" y="4846817"/>
            <a:ext cx="60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Conector recto 190">
            <a:extLst>
              <a:ext uri="{FF2B5EF4-FFF2-40B4-BE49-F238E27FC236}">
                <a16:creationId xmlns:a16="http://schemas.microsoft.com/office/drawing/2014/main" id="{415CBDFD-448D-4A43-9A38-11A295679C9A}"/>
              </a:ext>
            </a:extLst>
          </p:cNvPr>
          <p:cNvCxnSpPr>
            <a:cxnSpLocks/>
          </p:cNvCxnSpPr>
          <p:nvPr/>
        </p:nvCxnSpPr>
        <p:spPr>
          <a:xfrm flipH="1" flipV="1">
            <a:off x="7945897" y="4231009"/>
            <a:ext cx="124028" cy="619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Conector recto 191">
            <a:extLst>
              <a:ext uri="{FF2B5EF4-FFF2-40B4-BE49-F238E27FC236}">
                <a16:creationId xmlns:a16="http://schemas.microsoft.com/office/drawing/2014/main" id="{E15BFF58-0418-4919-B87F-10CA37A21287}"/>
              </a:ext>
            </a:extLst>
          </p:cNvPr>
          <p:cNvCxnSpPr>
            <a:cxnSpLocks/>
          </p:cNvCxnSpPr>
          <p:nvPr/>
        </p:nvCxnSpPr>
        <p:spPr>
          <a:xfrm flipH="1">
            <a:off x="8069925" y="4850524"/>
            <a:ext cx="60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onector recto 192">
            <a:extLst>
              <a:ext uri="{FF2B5EF4-FFF2-40B4-BE49-F238E27FC236}">
                <a16:creationId xmlns:a16="http://schemas.microsoft.com/office/drawing/2014/main" id="{4604805E-38C0-4DCE-B43D-7B891FD79F8D}"/>
              </a:ext>
            </a:extLst>
          </p:cNvPr>
          <p:cNvCxnSpPr>
            <a:cxnSpLocks/>
          </p:cNvCxnSpPr>
          <p:nvPr/>
        </p:nvCxnSpPr>
        <p:spPr>
          <a:xfrm flipV="1">
            <a:off x="8651822" y="4857780"/>
            <a:ext cx="28971" cy="6195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8BB93523-A036-4C32-9930-220B6005D649}"/>
              </a:ext>
            </a:extLst>
          </p:cNvPr>
          <p:cNvCxnSpPr>
            <a:cxnSpLocks/>
          </p:cNvCxnSpPr>
          <p:nvPr/>
        </p:nvCxnSpPr>
        <p:spPr>
          <a:xfrm flipV="1">
            <a:off x="9261422" y="4857780"/>
            <a:ext cx="28971" cy="6149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5" name="Conector recto 194">
            <a:extLst>
              <a:ext uri="{FF2B5EF4-FFF2-40B4-BE49-F238E27FC236}">
                <a16:creationId xmlns:a16="http://schemas.microsoft.com/office/drawing/2014/main" id="{EE982549-62AF-4546-8869-867AEA0B67C0}"/>
              </a:ext>
            </a:extLst>
          </p:cNvPr>
          <p:cNvCxnSpPr>
            <a:cxnSpLocks/>
          </p:cNvCxnSpPr>
          <p:nvPr/>
        </p:nvCxnSpPr>
        <p:spPr>
          <a:xfrm flipH="1">
            <a:off x="8651822" y="5465435"/>
            <a:ext cx="60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6" name="Conector recto 195">
            <a:extLst>
              <a:ext uri="{FF2B5EF4-FFF2-40B4-BE49-F238E27FC236}">
                <a16:creationId xmlns:a16="http://schemas.microsoft.com/office/drawing/2014/main" id="{A0F2C777-2679-494E-8F75-F60162CDF643}"/>
              </a:ext>
            </a:extLst>
          </p:cNvPr>
          <p:cNvCxnSpPr>
            <a:cxnSpLocks/>
          </p:cNvCxnSpPr>
          <p:nvPr/>
        </p:nvCxnSpPr>
        <p:spPr>
          <a:xfrm flipH="1">
            <a:off x="9288907" y="4845884"/>
            <a:ext cx="60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Conector recto 196">
            <a:extLst>
              <a:ext uri="{FF2B5EF4-FFF2-40B4-BE49-F238E27FC236}">
                <a16:creationId xmlns:a16="http://schemas.microsoft.com/office/drawing/2014/main" id="{C81F1C5A-BB22-4179-9E53-98399450055F}"/>
              </a:ext>
            </a:extLst>
          </p:cNvPr>
          <p:cNvCxnSpPr>
            <a:cxnSpLocks/>
          </p:cNvCxnSpPr>
          <p:nvPr/>
        </p:nvCxnSpPr>
        <p:spPr>
          <a:xfrm flipV="1">
            <a:off x="9860862" y="4856847"/>
            <a:ext cx="28971" cy="6149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Conector recto 197">
            <a:extLst>
              <a:ext uri="{FF2B5EF4-FFF2-40B4-BE49-F238E27FC236}">
                <a16:creationId xmlns:a16="http://schemas.microsoft.com/office/drawing/2014/main" id="{7DF8B6CD-E4C0-4413-A5C5-5CE2E01F0A38}"/>
              </a:ext>
            </a:extLst>
          </p:cNvPr>
          <p:cNvCxnSpPr>
            <a:cxnSpLocks/>
          </p:cNvCxnSpPr>
          <p:nvPr/>
        </p:nvCxnSpPr>
        <p:spPr>
          <a:xfrm flipH="1">
            <a:off x="9251262" y="5464502"/>
            <a:ext cx="60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0" name="Título 3">
            <a:extLst>
              <a:ext uri="{FF2B5EF4-FFF2-40B4-BE49-F238E27FC236}">
                <a16:creationId xmlns:a16="http://schemas.microsoft.com/office/drawing/2014/main" id="{E3351A95-3967-4CF0-A00D-0055862A787A}"/>
              </a:ext>
            </a:extLst>
          </p:cNvPr>
          <p:cNvSpPr txBox="1">
            <a:spLocks/>
          </p:cNvSpPr>
          <p:nvPr/>
        </p:nvSpPr>
        <p:spPr>
          <a:xfrm>
            <a:off x="1967562" y="3838379"/>
            <a:ext cx="4360771" cy="12683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 err="1">
                <a:latin typeface="Agency FB" panose="020B0503020202020204" pitchFamily="34" charset="0"/>
              </a:rPr>
              <a:t>Triangles</a:t>
            </a:r>
            <a:endParaRPr lang="es-AR" dirty="0">
              <a:latin typeface="Agency FB" panose="020B0503020202020204" pitchFamily="34" charset="0"/>
            </a:endParaRPr>
          </a:p>
        </p:txBody>
      </p:sp>
      <p:sp>
        <p:nvSpPr>
          <p:cNvPr id="201" name="Título 3">
            <a:extLst>
              <a:ext uri="{FF2B5EF4-FFF2-40B4-BE49-F238E27FC236}">
                <a16:creationId xmlns:a16="http://schemas.microsoft.com/office/drawing/2014/main" id="{18063882-A42D-434F-9861-D3BDDF243B9C}"/>
              </a:ext>
            </a:extLst>
          </p:cNvPr>
          <p:cNvSpPr txBox="1">
            <a:spLocks/>
          </p:cNvSpPr>
          <p:nvPr/>
        </p:nvSpPr>
        <p:spPr>
          <a:xfrm>
            <a:off x="5307386" y="1033836"/>
            <a:ext cx="4360771" cy="12683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 err="1">
                <a:latin typeface="Agency FB" panose="020B0503020202020204" pitchFamily="34" charset="0"/>
              </a:rPr>
              <a:t>Quads</a:t>
            </a:r>
            <a:endParaRPr lang="es-AR" dirty="0">
              <a:latin typeface="Agency FB" panose="020B0503020202020204" pitchFamily="34" charset="0"/>
            </a:endParaRPr>
          </a:p>
        </p:txBody>
      </p:sp>
      <p:sp>
        <p:nvSpPr>
          <p:cNvPr id="205" name="Título 1">
            <a:extLst>
              <a:ext uri="{FF2B5EF4-FFF2-40B4-BE49-F238E27FC236}">
                <a16:creationId xmlns:a16="http://schemas.microsoft.com/office/drawing/2014/main" id="{2E278C28-E364-48A3-9EBE-5444C4EE12B3}"/>
              </a:ext>
            </a:extLst>
          </p:cNvPr>
          <p:cNvSpPr txBox="1">
            <a:spLocks/>
          </p:cNvSpPr>
          <p:nvPr/>
        </p:nvSpPr>
        <p:spPr>
          <a:xfrm>
            <a:off x="6993700" y="6295357"/>
            <a:ext cx="5324042" cy="4332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2000" dirty="0">
                <a:latin typeface="Abadi Extra Light" panose="020B0204020104020204" pitchFamily="34" charset="0"/>
              </a:rPr>
              <a:t>Gartner, Facundo Nicolás </a:t>
            </a:r>
            <a:r>
              <a:rPr lang="en-US" sz="2000" dirty="0">
                <a:latin typeface="Abadi Extra Light" panose="020B0204020104020204" pitchFamily="34" charset="0"/>
              </a:rPr>
              <a:t>– </a:t>
            </a:r>
            <a:r>
              <a:rPr lang="en-US" sz="2000" dirty="0" err="1">
                <a:latin typeface="Abadi Extra Light" panose="020B0204020104020204" pitchFamily="34" charset="0"/>
              </a:rPr>
              <a:t>Computaci</a:t>
            </a:r>
            <a:r>
              <a:rPr lang="es-AR" sz="2000" dirty="0" err="1">
                <a:latin typeface="Abadi Extra Light" panose="020B0204020104020204" pitchFamily="34" charset="0"/>
              </a:rPr>
              <a:t>ón</a:t>
            </a:r>
            <a:r>
              <a:rPr lang="es-AR" sz="2000" dirty="0">
                <a:latin typeface="Abadi Extra Light" panose="020B0204020104020204" pitchFamily="34" charset="0"/>
              </a:rPr>
              <a:t> Gráfica </a:t>
            </a:r>
          </a:p>
        </p:txBody>
      </p:sp>
    </p:spTree>
    <p:extLst>
      <p:ext uri="{BB962C8B-B14F-4D97-AF65-F5344CB8AC3E}">
        <p14:creationId xmlns:p14="http://schemas.microsoft.com/office/powerpoint/2010/main" val="125929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28D789-EA4F-4C66-9511-2646CD014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14" y="0"/>
            <a:ext cx="10515600" cy="1325563"/>
          </a:xfrm>
        </p:spPr>
        <p:txBody>
          <a:bodyPr/>
          <a:lstStyle/>
          <a:p>
            <a:r>
              <a:rPr lang="es-AR" dirty="0" err="1">
                <a:latin typeface="Abadi Extra Light" panose="020B0204020104020204" pitchFamily="34" charset="0"/>
              </a:rPr>
              <a:t>Indice</a:t>
            </a:r>
            <a:endParaRPr lang="es-AR" dirty="0">
              <a:latin typeface="Abadi Extra Light" panose="020B0204020104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63C612-11F4-4FFE-A204-1309E2880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325563"/>
            <a:ext cx="11353800" cy="45799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20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Angsana New" panose="020B0502040204020203" pitchFamily="18" charset="-34"/>
              </a:rPr>
              <a:t>-  Por qué los triángulos son tan importantes</a:t>
            </a:r>
          </a:p>
          <a:p>
            <a:pPr marL="0" indent="0">
              <a:buNone/>
            </a:pPr>
            <a:endParaRPr lang="es-AR" sz="2000" b="1" dirty="0">
              <a:effectLst/>
              <a:latin typeface="Abadi Extra Light" panose="020B0204020104020204" pitchFamily="34" charset="0"/>
              <a:ea typeface="Times New Roman" panose="02020603050405020304" pitchFamily="18" charset="0"/>
              <a:cs typeface="Angsana New" panose="020B0502040204020203" pitchFamily="18" charset="-34"/>
            </a:endParaRPr>
          </a:p>
          <a:p>
            <a:pPr marL="0" indent="0">
              <a:buNone/>
            </a:pPr>
            <a:r>
              <a:rPr lang="es-AR" sz="20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Angsana New" panose="020B0502040204020203" pitchFamily="18" charset="-34"/>
              </a:rPr>
              <a:t>-  Por qué la GPU trabaja con triángulos</a:t>
            </a:r>
            <a:endParaRPr lang="es-AR" sz="2000" b="1" dirty="0">
              <a:latin typeface="Abadi Extra Light" panose="020B0204020104020204" pitchFamily="34" charset="0"/>
              <a:ea typeface="Times New Roman" panose="02020603050405020304" pitchFamily="18" charset="0"/>
              <a:cs typeface="Angsana New" panose="020B0502040204020203" pitchFamily="18" charset="-34"/>
            </a:endParaRPr>
          </a:p>
          <a:p>
            <a:pPr marL="0" indent="0">
              <a:buNone/>
            </a:pPr>
            <a:endParaRPr lang="es-AR" sz="2000" b="1" dirty="0">
              <a:effectLst/>
              <a:latin typeface="Abadi Extra Light" panose="020B0204020104020204" pitchFamily="34" charset="0"/>
              <a:ea typeface="Times New Roman" panose="02020603050405020304" pitchFamily="18" charset="0"/>
              <a:cs typeface="Angsana New" panose="020B0502040204020203" pitchFamily="18" charset="-34"/>
            </a:endParaRPr>
          </a:p>
          <a:p>
            <a:pPr marL="0" indent="0">
              <a:buNone/>
            </a:pPr>
            <a:r>
              <a:rPr lang="es-AR" sz="20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Angsana New" panose="020B0502040204020203" pitchFamily="18" charset="-34"/>
              </a:rPr>
              <a:t>-  El rol de los </a:t>
            </a:r>
            <a:r>
              <a:rPr lang="es-AR" sz="2000" b="1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Angsana New" panose="020B0502040204020203" pitchFamily="18" charset="-34"/>
              </a:rPr>
              <a:t>quads</a:t>
            </a:r>
            <a:endParaRPr lang="en-US" sz="2000" b="1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Angsana New" panose="020B0502040204020203" pitchFamily="18" charset="-34"/>
            </a:endParaRPr>
          </a:p>
          <a:p>
            <a:pPr marL="0" indent="0">
              <a:buNone/>
            </a:pPr>
            <a:endParaRPr lang="es-AR" sz="2000" b="1" dirty="0">
              <a:effectLst/>
              <a:latin typeface="Abadi Extra Light" panose="020B0204020104020204" pitchFamily="34" charset="0"/>
              <a:ea typeface="Times New Roman" panose="02020603050405020304" pitchFamily="18" charset="0"/>
              <a:cs typeface="Angsana New" panose="020B0502040204020203" pitchFamily="18" charset="-34"/>
            </a:endParaRPr>
          </a:p>
          <a:p>
            <a:pPr marL="0" indent="0">
              <a:buNone/>
            </a:pPr>
            <a:r>
              <a:rPr lang="es-AR" sz="20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Angsana New" panose="020B0502040204020203" pitchFamily="18" charset="-34"/>
              </a:rPr>
              <a:t>-  ¿Los </a:t>
            </a:r>
            <a:r>
              <a:rPr lang="es-AR" sz="2000" b="1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Angsana New" panose="020B0502040204020203" pitchFamily="18" charset="-34"/>
              </a:rPr>
              <a:t>quads</a:t>
            </a:r>
            <a:r>
              <a:rPr lang="es-AR" sz="20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Angsana New" panose="020B0502040204020203" pitchFamily="18" charset="-34"/>
              </a:rPr>
              <a:t> rinden mejor?</a:t>
            </a:r>
            <a:endParaRPr lang="es-AR" sz="2000" b="1" dirty="0">
              <a:latin typeface="Abadi Extra Light" panose="020B0204020104020204" pitchFamily="34" charset="0"/>
              <a:ea typeface="Times New Roman" panose="02020603050405020304" pitchFamily="18" charset="0"/>
              <a:cs typeface="Angsana New" panose="020B0502040204020203" pitchFamily="18" charset="-34"/>
            </a:endParaRPr>
          </a:p>
          <a:p>
            <a:pPr marL="0" indent="0">
              <a:buNone/>
            </a:pPr>
            <a:endParaRPr lang="es-AR" sz="2000" b="1" dirty="0">
              <a:effectLst/>
              <a:latin typeface="Abadi Extra Light" panose="020B0204020104020204" pitchFamily="34" charset="0"/>
              <a:ea typeface="Times New Roman" panose="02020603050405020304" pitchFamily="18" charset="0"/>
              <a:cs typeface="Angsana New" panose="020B0502040204020203" pitchFamily="18" charset="-34"/>
            </a:endParaRPr>
          </a:p>
          <a:p>
            <a:pPr marL="0" indent="0">
              <a:buNone/>
            </a:pPr>
            <a:r>
              <a:rPr lang="es-AR" sz="20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Angsana New" panose="020B0502040204020203" pitchFamily="18" charset="-34"/>
              </a:rPr>
              <a:t>-  Problema visual importante de los </a:t>
            </a:r>
            <a:r>
              <a:rPr lang="es-AR" sz="2000" b="1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Angsana New" panose="020B0502040204020203" pitchFamily="18" charset="-34"/>
              </a:rPr>
              <a:t>quads</a:t>
            </a:r>
            <a:endParaRPr lang="es-AR" sz="2000" b="1" dirty="0">
              <a:effectLst/>
              <a:latin typeface="Abadi Extra Light" panose="020B0204020104020204" pitchFamily="34" charset="0"/>
              <a:ea typeface="Times New Roman" panose="02020603050405020304" pitchFamily="18" charset="0"/>
              <a:cs typeface="Angsana New" panose="020B0502040204020203" pitchFamily="18" charset="-34"/>
            </a:endParaRPr>
          </a:p>
          <a:p>
            <a:pPr marL="0" indent="0">
              <a:buNone/>
            </a:pPr>
            <a:endParaRPr lang="es-AR" sz="2000" b="1" dirty="0">
              <a:effectLst/>
              <a:latin typeface="Abadi Extra Light" panose="020B0204020104020204" pitchFamily="34" charset="0"/>
              <a:ea typeface="Times New Roman" panose="02020603050405020304" pitchFamily="18" charset="0"/>
              <a:cs typeface="Angsana New" panose="020B0502040204020203" pitchFamily="18" charset="-34"/>
            </a:endParaRPr>
          </a:p>
          <a:p>
            <a:pPr marL="0" indent="0">
              <a:buNone/>
            </a:pPr>
            <a:r>
              <a:rPr lang="es-AR" sz="20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Angsana New" panose="020B0502040204020203" pitchFamily="18" charset="-34"/>
              </a:rPr>
              <a:t>-  Conclusión</a:t>
            </a:r>
            <a:endParaRPr lang="en-US" sz="2000" dirty="0">
              <a:latin typeface="Abadi Extra Light" panose="020B0204020104020204" pitchFamily="34" charset="0"/>
              <a:cs typeface="Angsana New" panose="020B0502040204020203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44492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FAA7A3-88B4-498F-9EA7-FCA13111D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108" y="158542"/>
            <a:ext cx="10515600" cy="598436"/>
          </a:xfrm>
        </p:spPr>
        <p:txBody>
          <a:bodyPr>
            <a:normAutofit/>
          </a:bodyPr>
          <a:lstStyle/>
          <a:p>
            <a:r>
              <a:rPr lang="es-AR" sz="3600" b="1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Por qué los triángulos son tan importantes</a:t>
            </a:r>
            <a:endParaRPr lang="en-US" sz="3600" dirty="0">
              <a:latin typeface="Abadi Extra Light" panose="020B0204020104020204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BA97F11-F272-406C-A252-9DA20607C363}"/>
              </a:ext>
            </a:extLst>
          </p:cNvPr>
          <p:cNvCxnSpPr>
            <a:cxnSpLocks/>
          </p:cNvCxnSpPr>
          <p:nvPr/>
        </p:nvCxnSpPr>
        <p:spPr>
          <a:xfrm>
            <a:off x="1215685" y="4540726"/>
            <a:ext cx="203921" cy="11775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0165C04-E596-4E87-BE82-5E7ECD7E9907}"/>
              </a:ext>
            </a:extLst>
          </p:cNvPr>
          <p:cNvCxnSpPr>
            <a:cxnSpLocks/>
          </p:cNvCxnSpPr>
          <p:nvPr/>
        </p:nvCxnSpPr>
        <p:spPr>
          <a:xfrm flipV="1">
            <a:off x="1429841" y="4294919"/>
            <a:ext cx="953015" cy="14167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39ECE2D-642E-43EC-B87C-9DD8DACB3BBC}"/>
              </a:ext>
            </a:extLst>
          </p:cNvPr>
          <p:cNvCxnSpPr>
            <a:cxnSpLocks/>
          </p:cNvCxnSpPr>
          <p:nvPr/>
        </p:nvCxnSpPr>
        <p:spPr>
          <a:xfrm flipV="1">
            <a:off x="1220804" y="4294920"/>
            <a:ext cx="1162052" cy="2417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6F2EE70D-A1AC-4609-98DE-C726E7A04533}"/>
              </a:ext>
            </a:extLst>
          </p:cNvPr>
          <p:cNvSpPr txBox="1"/>
          <p:nvPr/>
        </p:nvSpPr>
        <p:spPr>
          <a:xfrm>
            <a:off x="688384" y="2237034"/>
            <a:ext cx="2226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>
                <a:latin typeface="Abadi Extra Light" panose="020B0204020104020204" pitchFamily="34" charset="0"/>
              </a:rPr>
              <a:t>3 puntos no colineales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79AF52F-3D21-48F6-A0EA-89B71D1071C0}"/>
              </a:ext>
            </a:extLst>
          </p:cNvPr>
          <p:cNvSpPr txBox="1"/>
          <p:nvPr/>
        </p:nvSpPr>
        <p:spPr>
          <a:xfrm>
            <a:off x="1462634" y="3069946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>
                <a:latin typeface="Abadi Extra Light" panose="020B0204020104020204" pitchFamily="34" charset="0"/>
              </a:rPr>
              <a:t>plano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D453CE6-10D4-4577-A751-E5F5FF03B1ED}"/>
              </a:ext>
            </a:extLst>
          </p:cNvPr>
          <p:cNvCxnSpPr>
            <a:cxnSpLocks/>
          </p:cNvCxnSpPr>
          <p:nvPr/>
        </p:nvCxnSpPr>
        <p:spPr>
          <a:xfrm>
            <a:off x="8898276" y="4610020"/>
            <a:ext cx="203921" cy="11775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35C0ACC2-816F-49D1-8852-FC725DF0521C}"/>
              </a:ext>
            </a:extLst>
          </p:cNvPr>
          <p:cNvCxnSpPr>
            <a:cxnSpLocks/>
          </p:cNvCxnSpPr>
          <p:nvPr/>
        </p:nvCxnSpPr>
        <p:spPr>
          <a:xfrm flipV="1">
            <a:off x="8903395" y="4364214"/>
            <a:ext cx="1162052" cy="2417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F2C29B9D-2D74-4676-A4AA-A2FABC25F4C0}"/>
              </a:ext>
            </a:extLst>
          </p:cNvPr>
          <p:cNvCxnSpPr>
            <a:cxnSpLocks/>
          </p:cNvCxnSpPr>
          <p:nvPr/>
        </p:nvCxnSpPr>
        <p:spPr>
          <a:xfrm>
            <a:off x="10065447" y="4357736"/>
            <a:ext cx="203921" cy="11775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A43E14CB-3A0B-4F05-8200-79D87DCC9901}"/>
              </a:ext>
            </a:extLst>
          </p:cNvPr>
          <p:cNvCxnSpPr>
            <a:cxnSpLocks/>
          </p:cNvCxnSpPr>
          <p:nvPr/>
        </p:nvCxnSpPr>
        <p:spPr>
          <a:xfrm flipV="1">
            <a:off x="9102197" y="5532785"/>
            <a:ext cx="1162052" cy="2417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DDE54738-2A8C-4D27-B97A-2864D2DADDB5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801830" y="2606366"/>
            <a:ext cx="0" cy="463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5EFE20B-C350-437B-97B7-84D466F34496}"/>
              </a:ext>
            </a:extLst>
          </p:cNvPr>
          <p:cNvSpPr txBox="1"/>
          <p:nvPr/>
        </p:nvSpPr>
        <p:spPr>
          <a:xfrm>
            <a:off x="8856839" y="1505797"/>
            <a:ext cx="11352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b="1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Quad</a:t>
            </a:r>
            <a:endParaRPr lang="es-AR" dirty="0">
              <a:latin typeface="Abadi Extra Light" panose="020B0204020104020204" pitchFamily="34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FB9F7BBF-B36E-444B-9068-E7373414D163}"/>
              </a:ext>
            </a:extLst>
          </p:cNvPr>
          <p:cNvSpPr txBox="1"/>
          <p:nvPr/>
        </p:nvSpPr>
        <p:spPr>
          <a:xfrm>
            <a:off x="2673180" y="3271802"/>
            <a:ext cx="3485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primitiva </a:t>
            </a:r>
            <a:r>
              <a:rPr lang="es-AR" sz="18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simple, estable y predecible</a:t>
            </a:r>
            <a:endParaRPr lang="es-AR" dirty="0">
              <a:latin typeface="Abadi Extra Light" panose="020B0204020104020204" pitchFamily="34" charset="0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1DA7329-BCAD-40DF-A2C4-0F83D9E45E18}"/>
              </a:ext>
            </a:extLst>
          </p:cNvPr>
          <p:cNvSpPr txBox="1"/>
          <p:nvPr/>
        </p:nvSpPr>
        <p:spPr>
          <a:xfrm>
            <a:off x="8783468" y="2403038"/>
            <a:ext cx="1281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4 vértices</a:t>
            </a:r>
            <a:endParaRPr lang="es-AR" dirty="0">
              <a:latin typeface="Abadi Extra Light" panose="020B0204020104020204" pitchFamily="34" charset="0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42E43DD7-ADC7-4ADA-BCE8-289CD9B18166}"/>
              </a:ext>
            </a:extLst>
          </p:cNvPr>
          <p:cNvSpPr txBox="1"/>
          <p:nvPr/>
        </p:nvSpPr>
        <p:spPr>
          <a:xfrm>
            <a:off x="7183617" y="3407752"/>
            <a:ext cx="4481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uno de esos puntos no esté en el mismo plano que los otros tres</a:t>
            </a:r>
            <a:endParaRPr lang="es-AR" dirty="0">
              <a:latin typeface="Abadi Extra Light" panose="020B0204020104020204" pitchFamily="34" charset="0"/>
            </a:endParaRP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363B3FAE-2ADE-41A6-A478-46B3E36F81D1}"/>
              </a:ext>
            </a:extLst>
          </p:cNvPr>
          <p:cNvCxnSpPr>
            <a:cxnSpLocks/>
            <a:stCxn id="55" idx="1"/>
            <a:endCxn id="8" idx="0"/>
          </p:cNvCxnSpPr>
          <p:nvPr/>
        </p:nvCxnSpPr>
        <p:spPr>
          <a:xfrm flipH="1">
            <a:off x="1801830" y="1798185"/>
            <a:ext cx="1670224" cy="438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64051824-5F16-4339-9A19-DFB5F70999A2}"/>
              </a:ext>
            </a:extLst>
          </p:cNvPr>
          <p:cNvCxnSpPr>
            <a:cxnSpLocks/>
            <a:stCxn id="55" idx="2"/>
            <a:endCxn id="42" idx="0"/>
          </p:cNvCxnSpPr>
          <p:nvPr/>
        </p:nvCxnSpPr>
        <p:spPr>
          <a:xfrm>
            <a:off x="4415726" y="2090572"/>
            <a:ext cx="0" cy="1181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CuadroTexto 54">
            <a:extLst>
              <a:ext uri="{FF2B5EF4-FFF2-40B4-BE49-F238E27FC236}">
                <a16:creationId xmlns:a16="http://schemas.microsoft.com/office/drawing/2014/main" id="{7B523823-EF0D-4135-A1C5-0DFB5F3F690B}"/>
              </a:ext>
            </a:extLst>
          </p:cNvPr>
          <p:cNvSpPr txBox="1"/>
          <p:nvPr/>
        </p:nvSpPr>
        <p:spPr>
          <a:xfrm>
            <a:off x="3472054" y="1505797"/>
            <a:ext cx="18873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Triángulos</a:t>
            </a:r>
            <a:endParaRPr lang="es-AR" dirty="0">
              <a:latin typeface="Abadi Extra Light" panose="020B0204020104020204" pitchFamily="34" charset="0"/>
            </a:endParaRPr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53D01A48-2508-412E-82A1-F0C906943C94}"/>
              </a:ext>
            </a:extLst>
          </p:cNvPr>
          <p:cNvCxnSpPr>
            <a:cxnSpLocks/>
            <a:stCxn id="40" idx="2"/>
            <a:endCxn id="44" idx="0"/>
          </p:cNvCxnSpPr>
          <p:nvPr/>
        </p:nvCxnSpPr>
        <p:spPr>
          <a:xfrm>
            <a:off x="9424456" y="2090572"/>
            <a:ext cx="2" cy="312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2C75C2BC-11A8-4FF9-88CF-A08ED804A7D4}"/>
              </a:ext>
            </a:extLst>
          </p:cNvPr>
          <p:cNvCxnSpPr>
            <a:cxnSpLocks/>
            <a:stCxn id="44" idx="2"/>
            <a:endCxn id="46" idx="0"/>
          </p:cNvCxnSpPr>
          <p:nvPr/>
        </p:nvCxnSpPr>
        <p:spPr>
          <a:xfrm flipH="1">
            <a:off x="9424457" y="2772370"/>
            <a:ext cx="1" cy="635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Elipse 74">
            <a:extLst>
              <a:ext uri="{FF2B5EF4-FFF2-40B4-BE49-F238E27FC236}">
                <a16:creationId xmlns:a16="http://schemas.microsoft.com/office/drawing/2014/main" id="{6F9EFEDF-CC95-467C-B090-C7DE40265231}"/>
              </a:ext>
            </a:extLst>
          </p:cNvPr>
          <p:cNvSpPr/>
          <p:nvPr/>
        </p:nvSpPr>
        <p:spPr>
          <a:xfrm>
            <a:off x="2347372" y="427206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15B5A560-06F9-4353-9D95-FBE8F8FC4CC1}"/>
              </a:ext>
            </a:extLst>
          </p:cNvPr>
          <p:cNvSpPr/>
          <p:nvPr/>
        </p:nvSpPr>
        <p:spPr>
          <a:xfrm>
            <a:off x="1406981" y="568269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2F349363-3FF5-4C91-9E30-E9A665FF7B83}"/>
              </a:ext>
            </a:extLst>
          </p:cNvPr>
          <p:cNvSpPr/>
          <p:nvPr/>
        </p:nvSpPr>
        <p:spPr>
          <a:xfrm>
            <a:off x="1203060" y="451585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2E9C4BC5-4FFD-41BA-947D-E5493E681A60}"/>
              </a:ext>
            </a:extLst>
          </p:cNvPr>
          <p:cNvSpPr/>
          <p:nvPr/>
        </p:nvSpPr>
        <p:spPr>
          <a:xfrm>
            <a:off x="8872857" y="458961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2E612827-50FC-408B-91E9-3C09D0916321}"/>
              </a:ext>
            </a:extLst>
          </p:cNvPr>
          <p:cNvSpPr/>
          <p:nvPr/>
        </p:nvSpPr>
        <p:spPr>
          <a:xfrm>
            <a:off x="10042587" y="435126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F14AB361-7BB7-4E7E-A29B-9FDD7361D17C}"/>
              </a:ext>
            </a:extLst>
          </p:cNvPr>
          <p:cNvSpPr/>
          <p:nvPr/>
        </p:nvSpPr>
        <p:spPr>
          <a:xfrm>
            <a:off x="9081897" y="574828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1" name="Elipse 80">
            <a:extLst>
              <a:ext uri="{FF2B5EF4-FFF2-40B4-BE49-F238E27FC236}">
                <a16:creationId xmlns:a16="http://schemas.microsoft.com/office/drawing/2014/main" id="{E88A723D-3B24-4AB9-B14E-2C0A86FC0A72}"/>
              </a:ext>
            </a:extLst>
          </p:cNvPr>
          <p:cNvSpPr/>
          <p:nvPr/>
        </p:nvSpPr>
        <p:spPr>
          <a:xfrm>
            <a:off x="10246509" y="550992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9842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5F110-FF96-4144-8974-DB8116526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-4505"/>
            <a:ext cx="10515600" cy="1325563"/>
          </a:xfrm>
        </p:spPr>
        <p:txBody>
          <a:bodyPr>
            <a:normAutofit/>
          </a:bodyPr>
          <a:lstStyle/>
          <a:p>
            <a:r>
              <a:rPr lang="es-AR" sz="36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Angsana New" panose="020B0502040204020203" pitchFamily="18" charset="-34"/>
              </a:rPr>
              <a:t>¿</a:t>
            </a:r>
            <a:r>
              <a:rPr lang="es-AR" sz="36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Por qué la GPU trabaja con triángulos?</a:t>
            </a:r>
            <a:endParaRPr lang="en-US" sz="3600" dirty="0">
              <a:latin typeface="Abadi Extra Light" panose="020B02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76E3734-A373-4F30-8167-DD24B485FFB5}"/>
              </a:ext>
            </a:extLst>
          </p:cNvPr>
          <p:cNvSpPr txBox="1"/>
          <p:nvPr/>
        </p:nvSpPr>
        <p:spPr>
          <a:xfrm>
            <a:off x="1235145" y="1602418"/>
            <a:ext cx="2126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badi Extra Light" panose="020B0204020104020204" pitchFamily="34" charset="0"/>
                <a:ea typeface="Times New Roman" panose="02020603050405020304" pitchFamily="18" charset="0"/>
              </a:rPr>
              <a:t>R</a:t>
            </a:r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asterizar triángulos  </a:t>
            </a:r>
            <a:endParaRPr lang="es-AR" dirty="0">
              <a:latin typeface="Abadi Extra Light" panose="020B02040201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DAE884-5937-4383-A308-901B1CDD3964}"/>
              </a:ext>
            </a:extLst>
          </p:cNvPr>
          <p:cNvSpPr txBox="1"/>
          <p:nvPr/>
        </p:nvSpPr>
        <p:spPr>
          <a:xfrm>
            <a:off x="4749419" y="1588687"/>
            <a:ext cx="1190171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eficiente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F3B568E-3674-42BA-ADEC-4D4E0A637687}"/>
              </a:ext>
            </a:extLst>
          </p:cNvPr>
          <p:cNvSpPr txBox="1"/>
          <p:nvPr/>
        </p:nvSpPr>
        <p:spPr>
          <a:xfrm>
            <a:off x="4238171" y="5604048"/>
            <a:ext cx="2344057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profundidad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15DE26F5-967B-4201-BD66-B5FFAB7C9806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3361490" y="1775726"/>
            <a:ext cx="1387929" cy="11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F71349BE-C2E5-411D-B4E3-93EBE85948F8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298318" y="1971750"/>
            <a:ext cx="844932" cy="624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B812273-9736-4579-85D6-E0D4875F17D2}"/>
              </a:ext>
            </a:extLst>
          </p:cNvPr>
          <p:cNvSpPr txBox="1"/>
          <p:nvPr/>
        </p:nvSpPr>
        <p:spPr>
          <a:xfrm>
            <a:off x="4177658" y="4071280"/>
            <a:ext cx="650875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4E6A7AC-5382-4F29-970E-A3EBBA4E9004}"/>
              </a:ext>
            </a:extLst>
          </p:cNvPr>
          <p:cNvSpPr txBox="1"/>
          <p:nvPr/>
        </p:nvSpPr>
        <p:spPr>
          <a:xfrm>
            <a:off x="4177658" y="4540088"/>
            <a:ext cx="1027864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normales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7F22115-391B-40DB-9A38-7E22BA030957}"/>
              </a:ext>
            </a:extLst>
          </p:cNvPr>
          <p:cNvSpPr txBox="1"/>
          <p:nvPr/>
        </p:nvSpPr>
        <p:spPr>
          <a:xfrm>
            <a:off x="4206422" y="5054259"/>
            <a:ext cx="2344057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coordenadas</a:t>
            </a:r>
            <a:r>
              <a:rPr lang="en-US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textura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E87FA653-0B9F-46E9-B71E-C03E17353E3F}"/>
              </a:ext>
            </a:extLst>
          </p:cNvPr>
          <p:cNvCxnSpPr>
            <a:cxnSpLocks/>
          </p:cNvCxnSpPr>
          <p:nvPr/>
        </p:nvCxnSpPr>
        <p:spPr>
          <a:xfrm>
            <a:off x="3783956" y="3765183"/>
            <a:ext cx="3177" cy="20511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C865B2CB-4CC4-49EE-B575-914FB46A6E6A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3787133" y="4257517"/>
            <a:ext cx="390525" cy="6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6AD8560F-9AD5-466B-B4BD-C9FBDB5014CB}"/>
              </a:ext>
            </a:extLst>
          </p:cNvPr>
          <p:cNvCxnSpPr>
            <a:cxnSpLocks/>
          </p:cNvCxnSpPr>
          <p:nvPr/>
        </p:nvCxnSpPr>
        <p:spPr>
          <a:xfrm flipV="1">
            <a:off x="3787132" y="4751300"/>
            <a:ext cx="390525" cy="6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C5B1902D-92F9-4745-94D1-71F573310987}"/>
              </a:ext>
            </a:extLst>
          </p:cNvPr>
          <p:cNvCxnSpPr>
            <a:cxnSpLocks/>
          </p:cNvCxnSpPr>
          <p:nvPr/>
        </p:nvCxnSpPr>
        <p:spPr>
          <a:xfrm flipV="1">
            <a:off x="3783956" y="5285594"/>
            <a:ext cx="390525" cy="6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D70E9D0B-C720-450A-ABAB-52FD8F904851}"/>
              </a:ext>
            </a:extLst>
          </p:cNvPr>
          <p:cNvCxnSpPr>
            <a:cxnSpLocks/>
          </p:cNvCxnSpPr>
          <p:nvPr/>
        </p:nvCxnSpPr>
        <p:spPr>
          <a:xfrm>
            <a:off x="3783956" y="5816359"/>
            <a:ext cx="3937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1D00F1B-5C71-406B-8749-CF649E667ABF}"/>
              </a:ext>
            </a:extLst>
          </p:cNvPr>
          <p:cNvSpPr txBox="1"/>
          <p:nvPr/>
        </p:nvSpPr>
        <p:spPr>
          <a:xfrm>
            <a:off x="3190235" y="3386240"/>
            <a:ext cx="1187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interpolar</a:t>
            </a:r>
            <a:endParaRPr lang="es-AR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422810F-E114-417D-94DC-9B513667697D}"/>
              </a:ext>
            </a:extLst>
          </p:cNvPr>
          <p:cNvSpPr txBox="1"/>
          <p:nvPr/>
        </p:nvSpPr>
        <p:spPr>
          <a:xfrm>
            <a:off x="3361490" y="2482443"/>
            <a:ext cx="844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píxeles</a:t>
            </a:r>
            <a:endParaRPr lang="es-AR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28CED7D-B51C-4E00-B9AB-B701FC11FD20}"/>
              </a:ext>
            </a:extLst>
          </p:cNvPr>
          <p:cNvSpPr txBox="1"/>
          <p:nvPr/>
        </p:nvSpPr>
        <p:spPr>
          <a:xfrm>
            <a:off x="5939589" y="2482443"/>
            <a:ext cx="2245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pertenecen a una cara </a:t>
            </a:r>
            <a:endParaRPr lang="es-AR" dirty="0"/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E95D7129-D57E-48D9-A23E-6D9D041C6842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>
            <a:off x="4206422" y="2667109"/>
            <a:ext cx="17331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241A8BBC-56B9-45E5-9CE6-45D2B9BE9079}"/>
              </a:ext>
            </a:extLst>
          </p:cNvPr>
          <p:cNvCxnSpPr>
            <a:cxnSpLocks/>
            <a:stCxn id="21" idx="2"/>
            <a:endCxn id="19" idx="0"/>
          </p:cNvCxnSpPr>
          <p:nvPr/>
        </p:nvCxnSpPr>
        <p:spPr>
          <a:xfrm>
            <a:off x="3783956" y="2851775"/>
            <a:ext cx="0" cy="534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727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2682C65-C3E3-4D65-98A6-C5E123887D7F}"/>
              </a:ext>
            </a:extLst>
          </p:cNvPr>
          <p:cNvSpPr txBox="1"/>
          <p:nvPr/>
        </p:nvSpPr>
        <p:spPr>
          <a:xfrm>
            <a:off x="593725" y="1434126"/>
            <a:ext cx="2655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badi Extra Light" panose="020B0204020104020204" pitchFamily="34" charset="0"/>
                <a:ea typeface="Times New Roman" panose="02020603050405020304" pitchFamily="18" charset="0"/>
              </a:rPr>
              <a:t>C</a:t>
            </a:r>
            <a:r>
              <a:rPr lang="es-AR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oordenadas </a:t>
            </a:r>
            <a:r>
              <a:rPr lang="es-AR" b="1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baricéntricas</a:t>
            </a:r>
            <a:endParaRPr lang="es-AR" dirty="0">
              <a:latin typeface="Abadi Extra Light" panose="020B02040201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367C947-2DB4-4EB1-93F6-C43C537CC320}"/>
              </a:ext>
            </a:extLst>
          </p:cNvPr>
          <p:cNvSpPr txBox="1"/>
          <p:nvPr/>
        </p:nvSpPr>
        <p:spPr>
          <a:xfrm>
            <a:off x="2824341" y="2693130"/>
            <a:ext cx="6096000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interpolar atributos entre sus vértices de forma eficiente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F75252A-44D2-4D64-9557-D1E3B3C97010}"/>
              </a:ext>
            </a:extLst>
          </p:cNvPr>
          <p:cNvSpPr txBox="1"/>
          <p:nvPr/>
        </p:nvSpPr>
        <p:spPr>
          <a:xfrm>
            <a:off x="2588603" y="4883229"/>
            <a:ext cx="2032131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pensado con </a:t>
            </a:r>
            <a:r>
              <a:rPr lang="es-AR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quads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B55B5E27-1A97-4AEB-A888-A67022BF5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-4505"/>
            <a:ext cx="10515600" cy="1325563"/>
          </a:xfrm>
        </p:spPr>
        <p:txBody>
          <a:bodyPr>
            <a:normAutofit/>
          </a:bodyPr>
          <a:lstStyle/>
          <a:p>
            <a:r>
              <a:rPr lang="es-AR" sz="36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Angsana New" panose="020B0502040204020203" pitchFamily="18" charset="-34"/>
              </a:rPr>
              <a:t>¿</a:t>
            </a:r>
            <a:r>
              <a:rPr lang="es-AR" sz="36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Por qué la GPU trabaja con triángulos?</a:t>
            </a:r>
            <a:endParaRPr lang="en-US" sz="3600" dirty="0">
              <a:latin typeface="Abadi Extra Light" panose="020B0204020104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B5DCB0D-B19F-4A58-8858-ED12CFCEE2BA}"/>
              </a:ext>
            </a:extLst>
          </p:cNvPr>
          <p:cNvSpPr txBox="1"/>
          <p:nvPr/>
        </p:nvSpPr>
        <p:spPr>
          <a:xfrm>
            <a:off x="2824341" y="2066839"/>
            <a:ext cx="6112042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saber si un punto está dentro del triángulo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C89C19B9-AE30-48EA-A03E-97DBD11F6F3C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21591" y="1803458"/>
            <a:ext cx="0" cy="10759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2A6C987D-AF33-4B49-8FF5-755B6AE8BC70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921590" y="2253076"/>
            <a:ext cx="9027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8A658668-198A-4230-949E-584B765CBC9D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921590" y="2879367"/>
            <a:ext cx="9027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2931007-3E23-4D4D-B0E5-9AAEF4655141}"/>
              </a:ext>
            </a:extLst>
          </p:cNvPr>
          <p:cNvSpPr txBox="1"/>
          <p:nvPr/>
        </p:nvSpPr>
        <p:spPr>
          <a:xfrm>
            <a:off x="593725" y="3691894"/>
            <a:ext cx="942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 err="1"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s-AR" b="1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uads</a:t>
            </a:r>
            <a:endParaRPr lang="es-AR" b="1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FB4A4E8-223B-422B-A5EF-733755214DA2}"/>
              </a:ext>
            </a:extLst>
          </p:cNvPr>
          <p:cNvSpPr txBox="1"/>
          <p:nvPr/>
        </p:nvSpPr>
        <p:spPr>
          <a:xfrm>
            <a:off x="5676899" y="4886371"/>
            <a:ext cx="2579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 convierte en triángulos</a:t>
            </a:r>
            <a:endParaRPr lang="es-AR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6EB6EFB-3601-47D5-A61F-FC58613899EC}"/>
              </a:ext>
            </a:extLst>
          </p:cNvPr>
          <p:cNvSpPr txBox="1"/>
          <p:nvPr/>
        </p:nvSpPr>
        <p:spPr>
          <a:xfrm>
            <a:off x="2189520" y="3699250"/>
            <a:ext cx="298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problema es más complejo</a:t>
            </a:r>
            <a:endParaRPr lang="es-AR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401494A-78A0-4E53-ABCF-4E1696C72C81}"/>
              </a:ext>
            </a:extLst>
          </p:cNvPr>
          <p:cNvSpPr txBox="1"/>
          <p:nvPr/>
        </p:nvSpPr>
        <p:spPr>
          <a:xfrm>
            <a:off x="574674" y="4879303"/>
            <a:ext cx="981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modelo</a:t>
            </a:r>
            <a:endParaRPr lang="es-AR" dirty="0"/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9E7B0589-B26C-4FF0-8011-A81105E9580C}"/>
              </a:ext>
            </a:extLst>
          </p:cNvPr>
          <p:cNvCxnSpPr>
            <a:cxnSpLocks/>
            <a:stCxn id="32" idx="3"/>
            <a:endCxn id="8" idx="1"/>
          </p:cNvCxnSpPr>
          <p:nvPr/>
        </p:nvCxnSpPr>
        <p:spPr>
          <a:xfrm>
            <a:off x="1555749" y="5063969"/>
            <a:ext cx="1032854" cy="5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EA230C3F-BB14-44F2-B042-D7E0D7847366}"/>
              </a:ext>
            </a:extLst>
          </p:cNvPr>
          <p:cNvCxnSpPr>
            <a:cxnSpLocks/>
            <a:stCxn id="8" idx="3"/>
            <a:endCxn id="28" idx="1"/>
          </p:cNvCxnSpPr>
          <p:nvPr/>
        </p:nvCxnSpPr>
        <p:spPr>
          <a:xfrm>
            <a:off x="4620734" y="5069466"/>
            <a:ext cx="1056165" cy="1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DBAF84B1-6E10-47A1-AC4A-07275E6DB1D4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>
          <a:xfrm>
            <a:off x="1536700" y="3876560"/>
            <a:ext cx="652820" cy="7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B5F8367B-1005-4BFC-BB41-F0FA669C171C}"/>
              </a:ext>
            </a:extLst>
          </p:cNvPr>
          <p:cNvCxnSpPr>
            <a:cxnSpLocks/>
            <a:stCxn id="26" idx="2"/>
            <a:endCxn id="32" idx="0"/>
          </p:cNvCxnSpPr>
          <p:nvPr/>
        </p:nvCxnSpPr>
        <p:spPr>
          <a:xfrm flipH="1">
            <a:off x="1065212" y="4061226"/>
            <a:ext cx="1" cy="818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318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700859-B10A-4418-8B98-92EFCA86D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36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Angsana New" panose="020B0502040204020203" pitchFamily="18" charset="-34"/>
              </a:rPr>
              <a:t>El rol de los </a:t>
            </a:r>
            <a:r>
              <a:rPr lang="es-AR" sz="3600" b="1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Angsana New" panose="020B0502040204020203" pitchFamily="18" charset="-34"/>
              </a:rPr>
              <a:t>quads</a:t>
            </a:r>
            <a:endParaRPr lang="en-US" sz="3600" b="1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Angsana New" panose="020B0502040204020203" pitchFamily="18" charset="-34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EA05181-AED2-4CE5-9934-5E850F35F247}"/>
              </a:ext>
            </a:extLst>
          </p:cNvPr>
          <p:cNvSpPr txBox="1"/>
          <p:nvPr/>
        </p:nvSpPr>
        <p:spPr>
          <a:xfrm>
            <a:off x="961941" y="1140897"/>
            <a:ext cx="1059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b="1" dirty="0" err="1"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s-AR" sz="2400" b="1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uads</a:t>
            </a:r>
            <a:endParaRPr lang="es-AR" sz="24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B5B6498-0944-4EB8-A96C-CBCD858D6187}"/>
              </a:ext>
            </a:extLst>
          </p:cNvPr>
          <p:cNvSpPr txBox="1"/>
          <p:nvPr/>
        </p:nvSpPr>
        <p:spPr>
          <a:xfrm>
            <a:off x="2594898" y="1185635"/>
            <a:ext cx="2103437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etapa de </a:t>
            </a:r>
            <a:r>
              <a:rPr lang="es-AR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modelado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B536570-60DA-41C2-B0ED-AA34A6361A9D}"/>
              </a:ext>
            </a:extLst>
          </p:cNvPr>
          <p:cNvSpPr txBox="1"/>
          <p:nvPr/>
        </p:nvSpPr>
        <p:spPr>
          <a:xfrm>
            <a:off x="4238462" y="4029865"/>
            <a:ext cx="5642385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suelen deformarse de forma más predecible en animaciones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44D0F4F-27CE-4528-8A31-2D9CF2A76378}"/>
              </a:ext>
            </a:extLst>
          </p:cNvPr>
          <p:cNvSpPr txBox="1"/>
          <p:nvPr/>
        </p:nvSpPr>
        <p:spPr>
          <a:xfrm>
            <a:off x="93328" y="4973222"/>
            <a:ext cx="3244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suelen dar resultados </a:t>
            </a:r>
            <a:r>
              <a:rPr lang="es-AR" sz="18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más limpios </a:t>
            </a:r>
            <a:endParaRPr lang="es-AR" dirty="0">
              <a:latin typeface="Abadi Extra Light" panose="020B020402010402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43627CA-D2F9-4BDD-9379-5802FD2B7221}"/>
              </a:ext>
            </a:extLst>
          </p:cNvPr>
          <p:cNvSpPr txBox="1"/>
          <p:nvPr/>
        </p:nvSpPr>
        <p:spPr>
          <a:xfrm>
            <a:off x="4238462" y="2065422"/>
            <a:ext cx="3307558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permiten una topología más limpia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8AF4494-4C11-4467-9220-8E3F77A5E6D2}"/>
              </a:ext>
            </a:extLst>
          </p:cNvPr>
          <p:cNvSpPr txBox="1"/>
          <p:nvPr/>
        </p:nvSpPr>
        <p:spPr>
          <a:xfrm>
            <a:off x="4238462" y="2781765"/>
            <a:ext cx="3307558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facilitan el manejo de </a:t>
            </a:r>
            <a:r>
              <a:rPr lang="es-AR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loops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5E9000B-83F3-4C95-A122-8358D83E53D2}"/>
              </a:ext>
            </a:extLst>
          </p:cNvPr>
          <p:cNvSpPr txBox="1"/>
          <p:nvPr/>
        </p:nvSpPr>
        <p:spPr>
          <a:xfrm>
            <a:off x="4238462" y="3386785"/>
            <a:ext cx="2854797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 </a:t>
            </a:r>
            <a:r>
              <a:rPr lang="en-US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mejores</a:t>
            </a:r>
            <a:r>
              <a:rPr lang="en-US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US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subdivisión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84246508-A293-4C04-B19D-3637C7856C1D}"/>
              </a:ext>
            </a:extLst>
          </p:cNvPr>
          <p:cNvCxnSpPr>
            <a:stCxn id="9" idx="3"/>
            <a:endCxn id="13" idx="1"/>
          </p:cNvCxnSpPr>
          <p:nvPr/>
        </p:nvCxnSpPr>
        <p:spPr>
          <a:xfrm>
            <a:off x="2021305" y="1371730"/>
            <a:ext cx="573593" cy="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C9F654ED-911C-4D63-9345-FB4DF674D54F}"/>
              </a:ext>
            </a:extLst>
          </p:cNvPr>
          <p:cNvCxnSpPr>
            <a:cxnSpLocks/>
          </p:cNvCxnSpPr>
          <p:nvPr/>
        </p:nvCxnSpPr>
        <p:spPr>
          <a:xfrm>
            <a:off x="3338179" y="2264921"/>
            <a:ext cx="900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793A3502-DCB1-47DD-83CC-2FA01823ACEC}"/>
              </a:ext>
            </a:extLst>
          </p:cNvPr>
          <p:cNvCxnSpPr>
            <a:cxnSpLocks/>
          </p:cNvCxnSpPr>
          <p:nvPr/>
        </p:nvCxnSpPr>
        <p:spPr>
          <a:xfrm>
            <a:off x="3338179" y="2978883"/>
            <a:ext cx="900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844ADC87-E823-4ECC-8E8B-54A804A6697C}"/>
              </a:ext>
            </a:extLst>
          </p:cNvPr>
          <p:cNvCxnSpPr>
            <a:cxnSpLocks/>
          </p:cNvCxnSpPr>
          <p:nvPr/>
        </p:nvCxnSpPr>
        <p:spPr>
          <a:xfrm>
            <a:off x="3338179" y="3604123"/>
            <a:ext cx="900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6B53B444-7065-4F79-AAFD-D0C02DA5D617}"/>
              </a:ext>
            </a:extLst>
          </p:cNvPr>
          <p:cNvCxnSpPr>
            <a:cxnSpLocks/>
          </p:cNvCxnSpPr>
          <p:nvPr/>
        </p:nvCxnSpPr>
        <p:spPr>
          <a:xfrm flipV="1">
            <a:off x="3338179" y="4207590"/>
            <a:ext cx="921851" cy="1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6672F7B4-04F4-4A35-86B7-05965F6502B9}"/>
              </a:ext>
            </a:extLst>
          </p:cNvPr>
          <p:cNvCxnSpPr>
            <a:cxnSpLocks/>
          </p:cNvCxnSpPr>
          <p:nvPr/>
        </p:nvCxnSpPr>
        <p:spPr>
          <a:xfrm>
            <a:off x="3338179" y="1568888"/>
            <a:ext cx="0" cy="26387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995A113C-E92A-428F-AAF1-E43F732C0250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1491623" y="1602562"/>
            <a:ext cx="0" cy="3278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CC350947-E8BF-453A-A376-8544E206A5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4" t="3312" r="1822" b="2170"/>
          <a:stretch/>
        </p:blipFill>
        <p:spPr>
          <a:xfrm>
            <a:off x="7886701" y="668867"/>
            <a:ext cx="3750732" cy="252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52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98F32-165C-4522-9F2E-8AEA60901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0"/>
            <a:ext cx="10515600" cy="1325563"/>
          </a:xfrm>
        </p:spPr>
        <p:txBody>
          <a:bodyPr>
            <a:normAutofit/>
          </a:bodyPr>
          <a:lstStyle/>
          <a:p>
            <a:r>
              <a:rPr lang="es-AR" sz="36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¿Los </a:t>
            </a:r>
            <a:r>
              <a:rPr lang="es-AR" sz="3600" b="1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quads</a:t>
            </a:r>
            <a:r>
              <a:rPr lang="es-AR" sz="36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 rinden mejor?</a:t>
            </a:r>
            <a:endParaRPr lang="en-US" sz="3600" dirty="0">
              <a:latin typeface="Abadi Extra Light" panose="020B02040201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023C5FD-6853-4005-ADE1-C03F060AAF78}"/>
              </a:ext>
            </a:extLst>
          </p:cNvPr>
          <p:cNvSpPr txBox="1"/>
          <p:nvPr/>
        </p:nvSpPr>
        <p:spPr>
          <a:xfrm>
            <a:off x="527521" y="1333486"/>
            <a:ext cx="1010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s-AR" sz="1800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ntuitivo </a:t>
            </a:r>
            <a:endParaRPr lang="es-AR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86EBF3F-4EFD-486E-833F-29F2E175D926}"/>
              </a:ext>
            </a:extLst>
          </p:cNvPr>
          <p:cNvSpPr txBox="1"/>
          <p:nvPr/>
        </p:nvSpPr>
        <p:spPr>
          <a:xfrm>
            <a:off x="3699392" y="5444530"/>
            <a:ext cx="4793448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AR" sz="1800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controlás</a:t>
            </a:r>
            <a:r>
              <a:rPr lang="es-AR" sz="1800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exactamente cómo se divide la superficie</a:t>
            </a:r>
            <a:endParaRPr lang="en-US" sz="1600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CEB82E8-F3F6-4E50-AE31-C45283B46721}"/>
              </a:ext>
            </a:extLst>
          </p:cNvPr>
          <p:cNvSpPr txBox="1"/>
          <p:nvPr/>
        </p:nvSpPr>
        <p:spPr>
          <a:xfrm>
            <a:off x="3679885" y="6035299"/>
            <a:ext cx="4284258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AR" sz="1800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comportamiento visual es más consistente</a:t>
            </a:r>
            <a:endParaRPr lang="en-US" sz="1600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B23631E-8966-41D8-80A0-B2CE4957DA05}"/>
              </a:ext>
            </a:extLst>
          </p:cNvPr>
          <p:cNvSpPr txBox="1"/>
          <p:nvPr/>
        </p:nvSpPr>
        <p:spPr>
          <a:xfrm>
            <a:off x="2201449" y="1252759"/>
            <a:ext cx="1384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>
                <a:solidFill>
                  <a:srgbClr val="00B050"/>
                </a:solidFill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s-AR" sz="1800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superficie</a:t>
            </a:r>
            <a:endParaRPr lang="es-AR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C7A01F9-89A5-4457-BF3D-98D722C9CAEC}"/>
              </a:ext>
            </a:extLst>
          </p:cNvPr>
          <p:cNvSpPr txBox="1"/>
          <p:nvPr/>
        </p:nvSpPr>
        <p:spPr>
          <a:xfrm>
            <a:off x="2262409" y="1702818"/>
            <a:ext cx="1104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>
                <a:solidFill>
                  <a:srgbClr val="FF0000"/>
                </a:solidFill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s-AR" sz="1800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caras</a:t>
            </a:r>
            <a:endParaRPr lang="es-AR" dirty="0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D2E7E4B1-E0A1-4537-B68C-A12E016B6E78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 flipV="1">
            <a:off x="1538509" y="1514369"/>
            <a:ext cx="662940" cy="3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4D81ABAA-2D7F-4094-A95E-2A84BCEA47D7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1538509" y="1699035"/>
            <a:ext cx="723900" cy="326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9B112AD-FAC7-43FA-B202-E162F5CD80BC}"/>
              </a:ext>
            </a:extLst>
          </p:cNvPr>
          <p:cNvSpPr txBox="1"/>
          <p:nvPr/>
        </p:nvSpPr>
        <p:spPr>
          <a:xfrm>
            <a:off x="4162863" y="1582446"/>
            <a:ext cx="1104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s-AR" dirty="0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EFDB9DFF-563D-4895-AD49-C6133B91B382}"/>
              </a:ext>
            </a:extLst>
          </p:cNvPr>
          <p:cNvGrpSpPr/>
          <p:nvPr/>
        </p:nvGrpSpPr>
        <p:grpSpPr>
          <a:xfrm rot="631921">
            <a:off x="6557453" y="947479"/>
            <a:ext cx="1419371" cy="1442737"/>
            <a:chOff x="7268118" y="895742"/>
            <a:chExt cx="1419371" cy="1442737"/>
          </a:xfrm>
        </p:grpSpPr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3846FC11-3A56-4271-AB71-393577279B35}"/>
                </a:ext>
              </a:extLst>
            </p:cNvPr>
            <p:cNvCxnSpPr>
              <a:cxnSpLocks/>
            </p:cNvCxnSpPr>
            <p:nvPr/>
          </p:nvCxnSpPr>
          <p:spPr>
            <a:xfrm>
              <a:off x="7293537" y="1154500"/>
              <a:ext cx="203921" cy="11775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651D56BC-20F6-4D61-9485-3F8C646F1A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8656" y="908694"/>
              <a:ext cx="1162052" cy="24178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7FD51DB1-01E8-40A2-ACB8-7F4289DED4BF}"/>
                </a:ext>
              </a:extLst>
            </p:cNvPr>
            <p:cNvCxnSpPr>
              <a:cxnSpLocks/>
            </p:cNvCxnSpPr>
            <p:nvPr/>
          </p:nvCxnSpPr>
          <p:spPr>
            <a:xfrm>
              <a:off x="8460708" y="902216"/>
              <a:ext cx="203921" cy="11775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770A739B-0E81-456A-B1B7-B12E34BA2A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97458" y="2077265"/>
              <a:ext cx="1162052" cy="24178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3596DCFB-C6B4-4593-8C94-7339AD6C6B34}"/>
                </a:ext>
              </a:extLst>
            </p:cNvPr>
            <p:cNvSpPr/>
            <p:nvPr/>
          </p:nvSpPr>
          <p:spPr>
            <a:xfrm>
              <a:off x="7268118" y="113409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7D3AF27B-DC16-4903-89C3-DF6165F192D7}"/>
                </a:ext>
              </a:extLst>
            </p:cNvPr>
            <p:cNvSpPr/>
            <p:nvPr/>
          </p:nvSpPr>
          <p:spPr>
            <a:xfrm>
              <a:off x="8437848" y="89574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BAD4664E-C2B7-4D38-8147-0A69A7A7979B}"/>
                </a:ext>
              </a:extLst>
            </p:cNvPr>
            <p:cNvSpPr/>
            <p:nvPr/>
          </p:nvSpPr>
          <p:spPr>
            <a:xfrm>
              <a:off x="7477158" y="229276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DE52672E-A12F-499B-96D2-347FE0A3230E}"/>
                </a:ext>
              </a:extLst>
            </p:cNvPr>
            <p:cNvSpPr/>
            <p:nvPr/>
          </p:nvSpPr>
          <p:spPr>
            <a:xfrm>
              <a:off x="8641770" y="2054405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AD0CBCAB-3E81-4C6A-9B74-BC77DC0B7904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5267763" y="1767112"/>
            <a:ext cx="1041383" cy="11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errar llave 54">
            <a:extLst>
              <a:ext uri="{FF2B5EF4-FFF2-40B4-BE49-F238E27FC236}">
                <a16:creationId xmlns:a16="http://schemas.microsoft.com/office/drawing/2014/main" id="{F231AB9D-C9A9-46E1-B0BB-C5B46947C510}"/>
              </a:ext>
            </a:extLst>
          </p:cNvPr>
          <p:cNvSpPr/>
          <p:nvPr/>
        </p:nvSpPr>
        <p:spPr>
          <a:xfrm>
            <a:off x="3789968" y="1227261"/>
            <a:ext cx="168676" cy="108675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3D18A108-C061-42C0-B7C0-12F646EAE5ED}"/>
              </a:ext>
            </a:extLst>
          </p:cNvPr>
          <p:cNvCxnSpPr>
            <a:cxnSpLocks/>
            <a:stCxn id="45" idx="7"/>
            <a:endCxn id="44" idx="7"/>
          </p:cNvCxnSpPr>
          <p:nvPr/>
        </p:nvCxnSpPr>
        <p:spPr>
          <a:xfrm flipV="1">
            <a:off x="6688571" y="1057436"/>
            <a:ext cx="1199859" cy="119788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1" name="CuadroTexto 60">
            <a:extLst>
              <a:ext uri="{FF2B5EF4-FFF2-40B4-BE49-F238E27FC236}">
                <a16:creationId xmlns:a16="http://schemas.microsoft.com/office/drawing/2014/main" id="{D1B2A852-1C55-49CB-BEAB-4E84052B1CA5}"/>
              </a:ext>
            </a:extLst>
          </p:cNvPr>
          <p:cNvSpPr txBox="1"/>
          <p:nvPr/>
        </p:nvSpPr>
        <p:spPr>
          <a:xfrm>
            <a:off x="508807" y="4349121"/>
            <a:ext cx="1426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AR" sz="1800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otor gráfico</a:t>
            </a:r>
            <a:endParaRPr lang="es-AR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5F9091C1-A3F8-412E-B938-6D3B1D5D76FB}"/>
              </a:ext>
            </a:extLst>
          </p:cNvPr>
          <p:cNvSpPr txBox="1"/>
          <p:nvPr/>
        </p:nvSpPr>
        <p:spPr>
          <a:xfrm>
            <a:off x="2360905" y="4349121"/>
            <a:ext cx="3408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trabajar con triángulos</a:t>
            </a:r>
            <a:endParaRPr lang="es-AR" dirty="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E312FC9D-51AB-4ED0-A9D8-58109A37FEF2}"/>
              </a:ext>
            </a:extLst>
          </p:cNvPr>
          <p:cNvSpPr txBox="1"/>
          <p:nvPr/>
        </p:nvSpPr>
        <p:spPr>
          <a:xfrm>
            <a:off x="3679885" y="4854840"/>
            <a:ext cx="2070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evitás</a:t>
            </a:r>
            <a:r>
              <a:rPr lang="en-US" sz="1800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ambigüedades</a:t>
            </a:r>
            <a:endParaRPr lang="es-AR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F5456C8-0486-45D3-B36A-454FA59F34FA}"/>
              </a:ext>
            </a:extLst>
          </p:cNvPr>
          <p:cNvSpPr txBox="1"/>
          <p:nvPr/>
        </p:nvSpPr>
        <p:spPr>
          <a:xfrm>
            <a:off x="3926310" y="2680311"/>
            <a:ext cx="1578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pipeline gráfico</a:t>
            </a:r>
            <a:endParaRPr lang="es-AR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259846F-8703-487F-AB3A-00A77554DC2D}"/>
              </a:ext>
            </a:extLst>
          </p:cNvPr>
          <p:cNvSpPr txBox="1"/>
          <p:nvPr/>
        </p:nvSpPr>
        <p:spPr>
          <a:xfrm>
            <a:off x="6193643" y="2678954"/>
            <a:ext cx="2927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triangula</a:t>
            </a:r>
            <a:r>
              <a:rPr lang="es-AR" sz="1800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antes de procesarlo</a:t>
            </a:r>
            <a:endParaRPr lang="es-AR" dirty="0"/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9F7550EC-C281-4527-BC74-7403D1A2B824}"/>
              </a:ext>
            </a:extLst>
          </p:cNvPr>
          <p:cNvCxnSpPr>
            <a:cxnSpLocks/>
            <a:stCxn id="21" idx="2"/>
            <a:endCxn id="28" idx="0"/>
          </p:cNvCxnSpPr>
          <p:nvPr/>
        </p:nvCxnSpPr>
        <p:spPr>
          <a:xfrm>
            <a:off x="4715313" y="1951778"/>
            <a:ext cx="0" cy="7285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44FC749E-35B6-4EE1-8E06-56D70F69D8FE}"/>
              </a:ext>
            </a:extLst>
          </p:cNvPr>
          <p:cNvCxnSpPr>
            <a:cxnSpLocks/>
            <a:stCxn id="28" idx="3"/>
            <a:endCxn id="30" idx="1"/>
          </p:cNvCxnSpPr>
          <p:nvPr/>
        </p:nvCxnSpPr>
        <p:spPr>
          <a:xfrm flipV="1">
            <a:off x="5504316" y="2863620"/>
            <a:ext cx="689327" cy="13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65786F0F-BFBE-4D77-80E4-02BB548A5643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1935332" y="4533787"/>
            <a:ext cx="4255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00162E7-6487-4D58-92D7-8B9CD20B8B07}"/>
              </a:ext>
            </a:extLst>
          </p:cNvPr>
          <p:cNvSpPr txBox="1"/>
          <p:nvPr/>
        </p:nvSpPr>
        <p:spPr>
          <a:xfrm>
            <a:off x="401876" y="3370696"/>
            <a:ext cx="3760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AR" sz="1800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se evita el uso de triángulos</a:t>
            </a:r>
            <a:endParaRPr lang="es-AR" dirty="0"/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EB9A6974-5498-433C-B9E1-30FD41A43722}"/>
              </a:ext>
            </a:extLst>
          </p:cNvPr>
          <p:cNvCxnSpPr>
            <a:cxnSpLocks/>
          </p:cNvCxnSpPr>
          <p:nvPr/>
        </p:nvCxnSpPr>
        <p:spPr>
          <a:xfrm>
            <a:off x="834501" y="3886127"/>
            <a:ext cx="0" cy="43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A2FED7B5-DABB-466E-AF9B-B543A475571A}"/>
              </a:ext>
            </a:extLst>
          </p:cNvPr>
          <p:cNvCxnSpPr>
            <a:cxnSpLocks/>
          </p:cNvCxnSpPr>
          <p:nvPr/>
        </p:nvCxnSpPr>
        <p:spPr>
          <a:xfrm flipV="1">
            <a:off x="3116062" y="5035762"/>
            <a:ext cx="551986" cy="37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59A92B8D-F7D9-422F-8B29-C936AF739401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116062" y="5629735"/>
            <a:ext cx="583330" cy="1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C229DB63-2C19-432B-B3B9-6156CB7E8E0C}"/>
              </a:ext>
            </a:extLst>
          </p:cNvPr>
          <p:cNvCxnSpPr/>
          <p:nvPr/>
        </p:nvCxnSpPr>
        <p:spPr>
          <a:xfrm>
            <a:off x="3116062" y="4718453"/>
            <a:ext cx="0" cy="14959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870D9B77-B9A8-4F8A-9D7D-0B0A457BFEE7}"/>
              </a:ext>
            </a:extLst>
          </p:cNvPr>
          <p:cNvCxnSpPr>
            <a:cxnSpLocks/>
          </p:cNvCxnSpPr>
          <p:nvPr/>
        </p:nvCxnSpPr>
        <p:spPr>
          <a:xfrm>
            <a:off x="3116062" y="6220996"/>
            <a:ext cx="583330" cy="1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015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A9C769-0878-4279-B2EE-6949E2FE2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0"/>
            <a:ext cx="10515600" cy="1325563"/>
          </a:xfrm>
        </p:spPr>
        <p:txBody>
          <a:bodyPr>
            <a:normAutofit/>
          </a:bodyPr>
          <a:lstStyle/>
          <a:p>
            <a:r>
              <a:rPr lang="es-AR" sz="36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Problema visual importante de los </a:t>
            </a:r>
            <a:r>
              <a:rPr lang="es-AR" sz="3600" b="1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quads</a:t>
            </a:r>
            <a:endParaRPr lang="en-US" sz="3600" dirty="0">
              <a:latin typeface="Abadi Extra Light" panose="020B02040201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8870261-D8FB-43B1-983F-6CB030BD7D3C}"/>
              </a:ext>
            </a:extLst>
          </p:cNvPr>
          <p:cNvSpPr txBox="1"/>
          <p:nvPr/>
        </p:nvSpPr>
        <p:spPr>
          <a:xfrm>
            <a:off x="1071425" y="1485678"/>
            <a:ext cx="1007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ividirse</a:t>
            </a:r>
            <a:endParaRPr lang="es-AR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6538A76-F037-4B31-AC89-1EBF2FE2F989}"/>
              </a:ext>
            </a:extLst>
          </p:cNvPr>
          <p:cNvSpPr txBox="1"/>
          <p:nvPr/>
        </p:nvSpPr>
        <p:spPr>
          <a:xfrm>
            <a:off x="4654950" y="1484107"/>
            <a:ext cx="1007411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diagonal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49B32A1-D6D3-423B-8531-D51778A8E4F1}"/>
              </a:ext>
            </a:extLst>
          </p:cNvPr>
          <p:cNvSpPr txBox="1"/>
          <p:nvPr/>
        </p:nvSpPr>
        <p:spPr>
          <a:xfrm>
            <a:off x="2725035" y="2691912"/>
            <a:ext cx="3859830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interpolación</a:t>
            </a:r>
            <a:r>
              <a:rPr lang="en-US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colores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67047C6-B610-4673-B069-1BE270A98239}"/>
              </a:ext>
            </a:extLst>
          </p:cNvPr>
          <p:cNvSpPr txBox="1"/>
          <p:nvPr/>
        </p:nvSpPr>
        <p:spPr>
          <a:xfrm>
            <a:off x="1194135" y="2248307"/>
            <a:ext cx="761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afecta</a:t>
            </a:r>
            <a:endParaRPr lang="es-AR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8D1E16A-292C-4ADA-9B40-E393ABD28EFF}"/>
              </a:ext>
            </a:extLst>
          </p:cNvPr>
          <p:cNvSpPr txBox="1"/>
          <p:nvPr/>
        </p:nvSpPr>
        <p:spPr>
          <a:xfrm>
            <a:off x="954753" y="5173689"/>
            <a:ext cx="2313365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 triángulos no pasa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5ED8368-6F20-4DE0-9C41-A1CFD61C9C97}"/>
              </a:ext>
            </a:extLst>
          </p:cNvPr>
          <p:cNvSpPr txBox="1"/>
          <p:nvPr/>
        </p:nvSpPr>
        <p:spPr>
          <a:xfrm>
            <a:off x="2581079" y="1484107"/>
            <a:ext cx="1374078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 maneras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D82CB34-3AA9-413C-BFC0-0F04AEC686E4}"/>
              </a:ext>
            </a:extLst>
          </p:cNvPr>
          <p:cNvSpPr txBox="1"/>
          <p:nvPr/>
        </p:nvSpPr>
        <p:spPr>
          <a:xfrm>
            <a:off x="2725035" y="3103406"/>
            <a:ext cx="1607952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iluminación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8119488-8EC0-4624-813D-CEF4274EA13D}"/>
              </a:ext>
            </a:extLst>
          </p:cNvPr>
          <p:cNvSpPr txBox="1"/>
          <p:nvPr/>
        </p:nvSpPr>
        <p:spPr>
          <a:xfrm>
            <a:off x="2725035" y="3618377"/>
            <a:ext cx="1374082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 </a:t>
            </a:r>
            <a:r>
              <a:rPr lang="en-US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normales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1F7C94E-FF3C-42F3-B2CB-E13C8D6FB8BA}"/>
              </a:ext>
            </a:extLst>
          </p:cNvPr>
          <p:cNvSpPr txBox="1"/>
          <p:nvPr/>
        </p:nvSpPr>
        <p:spPr>
          <a:xfrm>
            <a:off x="2725035" y="4128024"/>
            <a:ext cx="3859830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incluso la apariencia final de la superficie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FE10AD91-050A-41B6-8165-B52E292A3910}"/>
              </a:ext>
            </a:extLst>
          </p:cNvPr>
          <p:cNvCxnSpPr>
            <a:stCxn id="7" idx="2"/>
            <a:endCxn id="13" idx="0"/>
          </p:cNvCxnSpPr>
          <p:nvPr/>
        </p:nvCxnSpPr>
        <p:spPr>
          <a:xfrm flipH="1">
            <a:off x="1575130" y="1855010"/>
            <a:ext cx="1" cy="393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A9F3AA57-AB3C-4CA9-95E0-64E5F7742349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2078836" y="1670344"/>
            <a:ext cx="5022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AB1A94DD-B459-4AE1-88C8-55CB9CFF53B7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3955157" y="1670344"/>
            <a:ext cx="6997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0DA51BE1-B96B-44BC-95AD-51B287431FFC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1575130" y="2617639"/>
            <a:ext cx="0" cy="16966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24877F34-82BD-4D48-8714-F6C814E7D062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3268118" y="5358354"/>
            <a:ext cx="830999" cy="1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151A2BC-2875-4FA0-9494-BDDA804AC184}"/>
              </a:ext>
            </a:extLst>
          </p:cNvPr>
          <p:cNvSpPr txBox="1"/>
          <p:nvPr/>
        </p:nvSpPr>
        <p:spPr>
          <a:xfrm>
            <a:off x="4099117" y="5172117"/>
            <a:ext cx="2553049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forma ya esta definida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BC054B1F-CDC4-4BFF-879F-188CDE53957D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575130" y="2878149"/>
            <a:ext cx="11499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5F5B0CAD-C40A-434A-BE2C-B57B2821BA9E}"/>
              </a:ext>
            </a:extLst>
          </p:cNvPr>
          <p:cNvCxnSpPr>
            <a:cxnSpLocks/>
          </p:cNvCxnSpPr>
          <p:nvPr/>
        </p:nvCxnSpPr>
        <p:spPr>
          <a:xfrm>
            <a:off x="1575130" y="3289643"/>
            <a:ext cx="11499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98004789-DA3D-43D8-A641-1B48DE9C53AE}"/>
              </a:ext>
            </a:extLst>
          </p:cNvPr>
          <p:cNvCxnSpPr>
            <a:cxnSpLocks/>
          </p:cNvCxnSpPr>
          <p:nvPr/>
        </p:nvCxnSpPr>
        <p:spPr>
          <a:xfrm>
            <a:off x="1575129" y="3804614"/>
            <a:ext cx="11499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B3A8B62C-43DB-4E62-B6D8-8560CC437DBC}"/>
              </a:ext>
            </a:extLst>
          </p:cNvPr>
          <p:cNvCxnSpPr>
            <a:cxnSpLocks/>
          </p:cNvCxnSpPr>
          <p:nvPr/>
        </p:nvCxnSpPr>
        <p:spPr>
          <a:xfrm>
            <a:off x="1575129" y="4314261"/>
            <a:ext cx="11499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144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75FAB-3F44-4875-9DDD-EBD2297D2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0"/>
            <a:ext cx="10515600" cy="1325563"/>
          </a:xfrm>
        </p:spPr>
        <p:txBody>
          <a:bodyPr>
            <a:normAutofit/>
          </a:bodyPr>
          <a:lstStyle/>
          <a:p>
            <a:r>
              <a:rPr lang="es-AR" sz="36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Conclusión</a:t>
            </a:r>
            <a:endParaRPr lang="en-US" sz="3600" dirty="0">
              <a:latin typeface="Abadi Extra Light" panose="020B02040201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158F241-F34A-4899-891D-9E965C85C80D}"/>
              </a:ext>
            </a:extLst>
          </p:cNvPr>
          <p:cNvSpPr txBox="1"/>
          <p:nvPr/>
        </p:nvSpPr>
        <p:spPr>
          <a:xfrm>
            <a:off x="558800" y="1325563"/>
            <a:ext cx="1177924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AR" b="1" dirty="0"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s-AR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riángulos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BBB380C-0E4F-48B7-94DC-0F612AFD2B6C}"/>
              </a:ext>
            </a:extLst>
          </p:cNvPr>
          <p:cNvSpPr txBox="1"/>
          <p:nvPr/>
        </p:nvSpPr>
        <p:spPr>
          <a:xfrm>
            <a:off x="558800" y="3808976"/>
            <a:ext cx="797558" cy="372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AR" b="1" dirty="0" err="1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Quads</a:t>
            </a:r>
            <a:endParaRPr lang="en-US" dirty="0">
              <a:effectLst/>
              <a:latin typeface="Abadi Extra Light" panose="020B02040201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37FB682-9345-411A-AAF8-690A979DFFBA}"/>
              </a:ext>
            </a:extLst>
          </p:cNvPr>
          <p:cNvSpPr txBox="1"/>
          <p:nvPr/>
        </p:nvSpPr>
        <p:spPr>
          <a:xfrm>
            <a:off x="2089150" y="1657755"/>
            <a:ext cx="1177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 planos</a:t>
            </a:r>
            <a:endParaRPr lang="es-AR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2DE81D6-BFF7-4C62-9840-0AC137B59CE8}"/>
              </a:ext>
            </a:extLst>
          </p:cNvPr>
          <p:cNvSpPr txBox="1"/>
          <p:nvPr/>
        </p:nvSpPr>
        <p:spPr>
          <a:xfrm>
            <a:off x="2089150" y="2775713"/>
            <a:ext cx="234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 fáciles de rasterizar </a:t>
            </a:r>
            <a:endParaRPr lang="es-AR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10932C7-DCEB-40F0-B6D1-7E13DDFB15FF}"/>
              </a:ext>
            </a:extLst>
          </p:cNvPr>
          <p:cNvSpPr txBox="1"/>
          <p:nvPr/>
        </p:nvSpPr>
        <p:spPr>
          <a:xfrm>
            <a:off x="2089150" y="2216734"/>
            <a:ext cx="4435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están soportados directamente por el hardware</a:t>
            </a:r>
            <a:endParaRPr lang="es-AR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A7D1910-7B53-4D4A-BE94-7FA533F8A732}"/>
              </a:ext>
            </a:extLst>
          </p:cNvPr>
          <p:cNvSpPr txBox="1"/>
          <p:nvPr/>
        </p:nvSpPr>
        <p:spPr>
          <a:xfrm>
            <a:off x="2089150" y="3812118"/>
            <a:ext cx="2146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útiles para modelado</a:t>
            </a:r>
            <a:endParaRPr lang="es-AR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C8FCF5E-DAD5-4857-A543-CC286E64218D}"/>
              </a:ext>
            </a:extLst>
          </p:cNvPr>
          <p:cNvSpPr txBox="1"/>
          <p:nvPr/>
        </p:nvSpPr>
        <p:spPr>
          <a:xfrm>
            <a:off x="4774552" y="3808976"/>
            <a:ext cx="44404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facilitan la edición, la animación y la subdivisión </a:t>
            </a:r>
            <a:endParaRPr lang="es-AR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AB4D879-2E89-4AD9-ADE2-45C15C700572}"/>
              </a:ext>
            </a:extLst>
          </p:cNvPr>
          <p:cNvSpPr txBox="1"/>
          <p:nvPr/>
        </p:nvSpPr>
        <p:spPr>
          <a:xfrm>
            <a:off x="9948631" y="3808976"/>
            <a:ext cx="1171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superficies</a:t>
            </a:r>
            <a:endParaRPr lang="es-AR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1C0D6F6-F763-48E4-B3B3-0B486C778113}"/>
              </a:ext>
            </a:extLst>
          </p:cNvPr>
          <p:cNvSpPr txBox="1"/>
          <p:nvPr/>
        </p:nvSpPr>
        <p:spPr>
          <a:xfrm>
            <a:off x="2181225" y="4678619"/>
            <a:ext cx="234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convertidos a triángulos </a:t>
            </a:r>
            <a:endParaRPr lang="es-AR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892E2DC-D56C-48F9-92FE-101ECE67FAC9}"/>
              </a:ext>
            </a:extLst>
          </p:cNvPr>
          <p:cNvSpPr txBox="1"/>
          <p:nvPr/>
        </p:nvSpPr>
        <p:spPr>
          <a:xfrm>
            <a:off x="5334000" y="4678619"/>
            <a:ext cx="1457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renderizarse</a:t>
            </a:r>
            <a:endParaRPr lang="es-AR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67D1F4AB-BAC9-4F09-9E35-01BC3A4FA1C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147762" y="1698037"/>
            <a:ext cx="0" cy="1262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E5C3B6D6-F26E-46ED-994C-56DFC7736122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147762" y="1842421"/>
            <a:ext cx="9413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EE55BA11-C704-4DE4-8492-7B169FCDB734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1147762" y="2394871"/>
            <a:ext cx="941388" cy="65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6F54B6EF-4D3A-4E6D-8F04-559410386CE6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147762" y="2960379"/>
            <a:ext cx="9413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E20D1EE0-6196-4928-B1AA-5A87935E491D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>
            <a:off x="1356358" y="3995213"/>
            <a:ext cx="732792" cy="15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163D9B57-8836-4B97-B728-F766534FD85B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4235450" y="3993642"/>
            <a:ext cx="539102" cy="31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8A6F79E4-ADD7-472A-A74E-E61D0AE2D15C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9215021" y="3993642"/>
            <a:ext cx="7336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7AEBF992-C82B-4028-B94D-47CAD28BE2FD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1356358" y="4261282"/>
            <a:ext cx="824867" cy="602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3FC65CBF-44BB-424E-982B-62C104E73D54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>
            <a:off x="4524375" y="4863285"/>
            <a:ext cx="809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580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D5714E0-B8F8-41BF-B736-35481F4D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300" y="2103437"/>
            <a:ext cx="3581400" cy="1325563"/>
          </a:xfrm>
        </p:spPr>
        <p:txBody>
          <a:bodyPr>
            <a:noAutofit/>
          </a:bodyPr>
          <a:lstStyle/>
          <a:p>
            <a:r>
              <a:rPr lang="es-AR" sz="9600" b="1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Gracias</a:t>
            </a:r>
            <a:endParaRPr lang="en-US" sz="9600" dirty="0">
              <a:latin typeface="Abadi Extra Light" panose="020B0204020104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0D8C9DF-34BA-40A5-A7A4-92A58AAA0183}"/>
              </a:ext>
            </a:extLst>
          </p:cNvPr>
          <p:cNvSpPr txBox="1">
            <a:spLocks/>
          </p:cNvSpPr>
          <p:nvPr/>
        </p:nvSpPr>
        <p:spPr>
          <a:xfrm>
            <a:off x="4505324" y="3338513"/>
            <a:ext cx="318135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800" dirty="0">
                <a:effectLst/>
                <a:latin typeface="Abadi Extra Light" panose="020B0204020104020204" pitchFamily="34" charset="0"/>
                <a:ea typeface="Times New Roman" panose="02020603050405020304" pitchFamily="18" charset="0"/>
              </a:rPr>
              <a:t>¿</a:t>
            </a:r>
            <a:r>
              <a:rPr lang="es-AR" sz="4800" dirty="0">
                <a:latin typeface="Abadi Extra Light" panose="020B0204020104020204" pitchFamily="34" charset="0"/>
                <a:ea typeface="Times New Roman" panose="02020603050405020304" pitchFamily="18" charset="0"/>
              </a:rPr>
              <a:t>Preguntas?</a:t>
            </a:r>
            <a:endParaRPr lang="en-US" sz="48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939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022BC-5261-4706-9BC8-A0B13C00A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3844AB-0823-4FFE-B3EC-7BB28CF7E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5677"/>
            <a:ext cx="11098161" cy="4751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dirty="0">
                <a:hlinkClick r:id="rId2"/>
              </a:rPr>
              <a:t>https://www.selfcad.com/blog/quads-versus-tris-in-3d-modeling-differences-and-similarities</a:t>
            </a:r>
          </a:p>
          <a:p>
            <a:pPr marL="0" indent="0">
              <a:buNone/>
            </a:pPr>
            <a:r>
              <a:rPr lang="es-AR" dirty="0">
                <a:hlinkClick r:id="rId2"/>
              </a:rPr>
              <a:t>https://blenderartists.org/t/quads-vs-triangles/311270</a:t>
            </a:r>
            <a:br>
              <a:rPr lang="es-AR" dirty="0">
                <a:hlinkClick r:id="rId2"/>
              </a:rPr>
            </a:br>
            <a:r>
              <a:rPr lang="es-AR" dirty="0">
                <a:hlinkClick r:id="rId2"/>
              </a:rPr>
              <a:t>https://www.quora.com/Which-one-is-better-for-3D-modeling-Quads-or-Tris</a:t>
            </a:r>
            <a:endParaRPr lang="es-AR" dirty="0"/>
          </a:p>
          <a:p>
            <a:pPr marL="0" indent="0">
              <a:buNone/>
            </a:pPr>
            <a:r>
              <a:rPr lang="es-AR" dirty="0">
                <a:hlinkClick r:id="rId3"/>
              </a:rPr>
              <a:t>https://gamedev.stackexchange.com/questions/66312/quads-vs-triangles</a:t>
            </a:r>
            <a:endParaRPr lang="es-AR" dirty="0"/>
          </a:p>
          <a:p>
            <a:pPr marL="0" indent="0">
              <a:buNone/>
            </a:pPr>
            <a:r>
              <a:rPr lang="es-AR" dirty="0">
                <a:hlinkClick r:id="rId4"/>
              </a:rPr>
              <a:t>https://stackoverflow.com/questions/14555446/opengl-is-it-more-efficient-to-use-gl-quads-or-gl-triangles</a:t>
            </a:r>
            <a:endParaRPr lang="es-AR" dirty="0"/>
          </a:p>
          <a:p>
            <a:pPr marL="0" indent="0">
              <a:buNone/>
            </a:pPr>
            <a:r>
              <a:rPr lang="es-AR" dirty="0">
                <a:hlinkClick r:id="rId5"/>
              </a:rPr>
              <a:t>https://www.reddit.com/r/gamedev/comments/bpfug4/stupid_question_why_do_devs_prefer_tris_instead/</a:t>
            </a: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675982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</TotalTime>
  <Words>394</Words>
  <Application>Microsoft Office PowerPoint</Application>
  <PresentationFormat>Panorámica</PresentationFormat>
  <Paragraphs>95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Abadi Extra Light</vt:lpstr>
      <vt:lpstr>Agency FB</vt:lpstr>
      <vt:lpstr>Arial</vt:lpstr>
      <vt:lpstr>Calibri</vt:lpstr>
      <vt:lpstr>Calibri Light</vt:lpstr>
      <vt:lpstr>Tema de Office</vt:lpstr>
      <vt:lpstr>VS</vt:lpstr>
      <vt:lpstr>Indice</vt:lpstr>
      <vt:lpstr>Por qué los triángulos son tan importantes</vt:lpstr>
      <vt:lpstr>¿Por qué la GPU trabaja con triángulos?</vt:lpstr>
      <vt:lpstr>¿Por qué la GPU trabaja con triángulos?</vt:lpstr>
      <vt:lpstr>El rol de los quads</vt:lpstr>
      <vt:lpstr>¿Los quads rinden mejor?</vt:lpstr>
      <vt:lpstr>Problema visual importante de los quads</vt:lpstr>
      <vt:lpstr>Conclusión</vt:lpstr>
      <vt:lpstr>Gracias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Triangles vs Quads</dc:title>
  <dc:creator>Facundo Gartner</dc:creator>
  <cp:lastModifiedBy>Facundo Gartner</cp:lastModifiedBy>
  <cp:revision>31</cp:revision>
  <dcterms:created xsi:type="dcterms:W3CDTF">2026-04-16T19:04:20Z</dcterms:created>
  <dcterms:modified xsi:type="dcterms:W3CDTF">2026-04-29T13:09:53Z</dcterms:modified>
</cp:coreProperties>
</file>